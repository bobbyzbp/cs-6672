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0fa3da9-24ed-6143-775c-933ef0fa1de6}">
          <p14:sldIdLst>
            <p14:sldId id="256"/>
            <p14:sldId id="257"/>
          </p14:sldIdLst>
        </p14:section>
        <p14:section name="What we did, and why" id="{24d866da-891e-a624-85bd-96bc71c22dc2}">
          <p14:sldIdLst>
            <p14:sldId id="258"/>
            <p14:sldId id="259"/>
            <p14:sldId id="260"/>
          </p14:sldIdLst>
        </p14:section>
        <p14:section name="The pipeline, step by step" id="{917a18fa-c2c2-2078-bd91-a33044ca566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What it buys" id="{addebdb9-5977-0d6b-ff7b-537e427db37b}">
          <p14:sldIdLst>
            <p14:sldId id="275"/>
            <p14:sldId id="276"/>
            <p14:sldId id="277"/>
          </p14:sldIdLst>
        </p14:section>
        <p14:section name="What is new, what is next" id="{69ac0518-c51c-b326-e9b0-5b666c9b9626}">
          <p14:sldIdLst>
            <p14:sldId id="278"/>
            <p14:sldId id="279"/>
          </p14:sldIdLst>
        </p14:section>
        <p14:section name="Close" id="{8403a432-6fca-0e73-c085-a38aba38b3ff}">
          <p14:sldIdLst>
            <p14:sldId id="280"/>
          </p14:sldIdLst>
        </p14:section>
        <p14:section name="Backup" id="{f93b136e-0cf8-cdfd-4816-cffcdb5b22fb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4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414A"/>
                </a:solidFill>
                <a:latin typeface="+mn-lt"/>
              </a:rPr>
              <a:t>the objective over scale, each cue on its own (metres per COLMAP unit)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cues</c:v>
                </c:pt>
              </c:strCache>
            </c:strRef>
          </c:tx>
          <c:spPr>
            <a:solidFill>
              <a:srgbClr val="1B2329"/>
            </a:solidFill>
            <a:ln w="25400" cap="flat">
              <a:solidFill>
                <a:srgbClr val="1B232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329"/>
              </a:solidFill>
              <a:ln w="9525" cap="flat">
                <a:solidFill>
                  <a:srgbClr val="1B23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5.3</c:v>
                  </c:pt>
                  <c:pt idx="1">
                    <c:v>5.9</c:v>
                  </c:pt>
                  <c:pt idx="2">
                    <c:v>6.6</c:v>
                  </c:pt>
                  <c:pt idx="3">
                    <c:v>7.4</c:v>
                  </c:pt>
                  <c:pt idx="4">
                    <c:v>8.3</c:v>
                  </c:pt>
                  <c:pt idx="5">
                    <c:v>9.2</c:v>
                  </c:pt>
                  <c:pt idx="6">
                    <c:v>10.3</c:v>
                  </c:pt>
                  <c:pt idx="7">
                    <c:v>11.5</c:v>
                  </c:pt>
                  <c:pt idx="8">
                    <c:v>12.9</c:v>
                  </c:pt>
                  <c:pt idx="9">
                    <c:v>14.4</c:v>
                  </c:pt>
                  <c:pt idx="10">
                    <c:v>16.0</c:v>
                  </c:pt>
                  <c:pt idx="11">
                    <c:v>17.9</c:v>
                  </c:pt>
                  <c:pt idx="12">
                    <c:v>20.0</c:v>
                  </c:pt>
                  <c:pt idx="13">
                    <c:v>22.3</c:v>
                  </c:pt>
                  <c:pt idx="14">
                    <c:v>24.9</c:v>
                  </c:pt>
                  <c:pt idx="15">
                    <c:v>27.8</c:v>
                  </c:pt>
                  <c:pt idx="16">
                    <c:v>31.1</c:v>
                  </c:pt>
                  <c:pt idx="17">
                    <c:v>34.7</c:v>
                  </c:pt>
                  <c:pt idx="18">
                    <c:v>38.8</c:v>
                  </c:pt>
                  <c:pt idx="19">
                    <c:v>43.3</c:v>
                  </c:pt>
                  <c:pt idx="20">
                    <c:v>48.3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0.9295603987813968</c:v>
                </c:pt>
                <c:pt idx="1">
                  <c:v>0.9891272616151612</c:v>
                </c:pt>
                <c:pt idx="2">
                  <c:v>1.027718949213669</c:v>
                </c:pt>
                <c:pt idx="3">
                  <c:v>1.105974415134116</c:v>
                </c:pt>
                <c:pt idx="4">
                  <c:v>1.1413138449541482</c:v>
                </c:pt>
                <c:pt idx="5">
                  <c:v>1.1602092821781729</c:v>
                </c:pt>
                <c:pt idx="6">
                  <c:v>1.1611727480524934</c:v>
                </c:pt>
                <c:pt idx="7">
                  <c:v>1.0695808455840514</c:v>
                </c:pt>
                <c:pt idx="8">
                  <c:v>1.1281851430873582</c:v>
                </c:pt>
                <c:pt idx="9">
                  <c:v>1.1602384400542949</c:v>
                </c:pt>
                <c:pt idx="10">
                  <c:v>1.9227485282307066</c:v>
                </c:pt>
                <c:pt idx="11">
                  <c:v>2.26498633922977</c:v>
                </c:pt>
                <c:pt idx="12">
                  <c:v>1.8606432170960678</c:v>
                </c:pt>
                <c:pt idx="13">
                  <c:v>1.0922654158948788</c:v>
                </c:pt>
                <c:pt idx="14">
                  <c:v>1.0811971422989783</c:v>
                </c:pt>
                <c:pt idx="15">
                  <c:v>1.0890876849379263</c:v>
                </c:pt>
                <c:pt idx="16">
                  <c:v>1.0802977756871375</c:v>
                </c:pt>
                <c:pt idx="17">
                  <c:v>1.1044322703377298</c:v>
                </c:pt>
                <c:pt idx="18">
                  <c:v>1.1122819123772267</c:v>
                </c:pt>
                <c:pt idx="19">
                  <c:v>1.1172624888203542</c:v>
                </c:pt>
                <c:pt idx="20">
                  <c:v>1.0500809950924954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walls alone</c:v>
                </c:pt>
              </c:strCache>
            </c:strRef>
          </c:tx>
          <c:spPr>
            <a:solidFill>
              <a:srgbClr val="B5532C"/>
            </a:solidFill>
            <a:ln w="25400" cap="flat">
              <a:solidFill>
                <a:srgbClr val="B553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532C"/>
              </a:solidFill>
              <a:ln w="9525" cap="flat">
                <a:solidFill>
                  <a:srgbClr val="B553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5.3</c:v>
                  </c:pt>
                  <c:pt idx="1">
                    <c:v>5.9</c:v>
                  </c:pt>
                  <c:pt idx="2">
                    <c:v>6.6</c:v>
                  </c:pt>
                  <c:pt idx="3">
                    <c:v>7.4</c:v>
                  </c:pt>
                  <c:pt idx="4">
                    <c:v>8.3</c:v>
                  </c:pt>
                  <c:pt idx="5">
                    <c:v>9.2</c:v>
                  </c:pt>
                  <c:pt idx="6">
                    <c:v>10.3</c:v>
                  </c:pt>
                  <c:pt idx="7">
                    <c:v>11.5</c:v>
                  </c:pt>
                  <c:pt idx="8">
                    <c:v>12.9</c:v>
                  </c:pt>
                  <c:pt idx="9">
                    <c:v>14.4</c:v>
                  </c:pt>
                  <c:pt idx="10">
                    <c:v>16.0</c:v>
                  </c:pt>
                  <c:pt idx="11">
                    <c:v>17.9</c:v>
                  </c:pt>
                  <c:pt idx="12">
                    <c:v>20.0</c:v>
                  </c:pt>
                  <c:pt idx="13">
                    <c:v>22.3</c:v>
                  </c:pt>
                  <c:pt idx="14">
                    <c:v>24.9</c:v>
                  </c:pt>
                  <c:pt idx="15">
                    <c:v>27.8</c:v>
                  </c:pt>
                  <c:pt idx="16">
                    <c:v>31.1</c:v>
                  </c:pt>
                  <c:pt idx="17">
                    <c:v>34.7</c:v>
                  </c:pt>
                  <c:pt idx="18">
                    <c:v>38.8</c:v>
                  </c:pt>
                  <c:pt idx="19">
                    <c:v>43.3</c:v>
                  </c:pt>
                  <c:pt idx="20">
                    <c:v>48.3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0.16198724392806058</c:v>
                </c:pt>
                <c:pt idx="1">
                  <c:v>0.1616707561803052</c:v>
                </c:pt>
                <c:pt idx="2">
                  <c:v>0.1688425123322325</c:v>
                </c:pt>
                <c:pt idx="3">
                  <c:v>0.18193277019251336</c:v>
                </c:pt>
                <c:pt idx="4">
                  <c:v>0.165977421623019</c:v>
                </c:pt>
                <c:pt idx="5">
                  <c:v>0.1492331641777166</c:v>
                </c:pt>
                <c:pt idx="6">
                  <c:v>0.1724589787591154</c:v>
                </c:pt>
                <c:pt idx="7">
                  <c:v>0.20043030961334155</c:v>
                </c:pt>
                <c:pt idx="8">
                  <c:v>0.20459741371360274</c:v>
                </c:pt>
                <c:pt idx="9">
                  <c:v>0.2078495507739613</c:v>
                </c:pt>
                <c:pt idx="10">
                  <c:v>0.23150001766433748</c:v>
                </c:pt>
                <c:pt idx="11">
                  <c:v>0.20378585921397502</c:v>
                </c:pt>
                <c:pt idx="12">
                  <c:v>0.1834687897056394</c:v>
                </c:pt>
                <c:pt idx="13">
                  <c:v>0.1779942116547179</c:v>
                </c:pt>
                <c:pt idx="14">
                  <c:v>0.18347897615525824</c:v>
                </c:pt>
                <c:pt idx="15">
                  <c:v>0.18939083826323733</c:v>
                </c:pt>
                <c:pt idx="16">
                  <c:v>0.18204278463802037</c:v>
                </c:pt>
                <c:pt idx="17">
                  <c:v>0.16427470360250906</c:v>
                </c:pt>
                <c:pt idx="18">
                  <c:v>0.15202915387610866</c:v>
                </c:pt>
                <c:pt idx="19">
                  <c:v>0.156181791461451</c:v>
                </c:pt>
                <c:pt idx="20">
                  <c:v>0.16082778372231757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roof edges alone</c:v>
                </c:pt>
              </c:strCache>
            </c:strRef>
          </c:tx>
          <c:spPr>
            <a:solidFill>
              <a:srgbClr val="B07A10"/>
            </a:solidFill>
            <a:ln w="25400" cap="flat">
              <a:solidFill>
                <a:srgbClr val="B07A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7A10"/>
              </a:solidFill>
              <a:ln w="9525" cap="flat">
                <a:solidFill>
                  <a:srgbClr val="B07A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5.3</c:v>
                  </c:pt>
                  <c:pt idx="1">
                    <c:v>5.9</c:v>
                  </c:pt>
                  <c:pt idx="2">
                    <c:v>6.6</c:v>
                  </c:pt>
                  <c:pt idx="3">
                    <c:v>7.4</c:v>
                  </c:pt>
                  <c:pt idx="4">
                    <c:v>8.3</c:v>
                  </c:pt>
                  <c:pt idx="5">
                    <c:v>9.2</c:v>
                  </c:pt>
                  <c:pt idx="6">
                    <c:v>10.3</c:v>
                  </c:pt>
                  <c:pt idx="7">
                    <c:v>11.5</c:v>
                  </c:pt>
                  <c:pt idx="8">
                    <c:v>12.9</c:v>
                  </c:pt>
                  <c:pt idx="9">
                    <c:v>14.4</c:v>
                  </c:pt>
                  <c:pt idx="10">
                    <c:v>16.0</c:v>
                  </c:pt>
                  <c:pt idx="11">
                    <c:v>17.9</c:v>
                  </c:pt>
                  <c:pt idx="12">
                    <c:v>20.0</c:v>
                  </c:pt>
                  <c:pt idx="13">
                    <c:v>22.3</c:v>
                  </c:pt>
                  <c:pt idx="14">
                    <c:v>24.9</c:v>
                  </c:pt>
                  <c:pt idx="15">
                    <c:v>27.8</c:v>
                  </c:pt>
                  <c:pt idx="16">
                    <c:v>31.1</c:v>
                  </c:pt>
                  <c:pt idx="17">
                    <c:v>34.7</c:v>
                  </c:pt>
                  <c:pt idx="18">
                    <c:v>38.8</c:v>
                  </c:pt>
                  <c:pt idx="19">
                    <c:v>43.3</c:v>
                  </c:pt>
                  <c:pt idx="20">
                    <c:v>48.3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0.6572386568311028</c:v>
                </c:pt>
                <c:pt idx="1">
                  <c:v>0.5015693915434191</c:v>
                </c:pt>
                <c:pt idx="2">
                  <c:v>0.46363913462542466</c:v>
                </c:pt>
                <c:pt idx="3">
                  <c:v>0.4914788944178642</c:v>
                </c:pt>
                <c:pt idx="4">
                  <c:v>0.5543227445826533</c:v>
                </c:pt>
                <c:pt idx="5">
                  <c:v>0.6225688848287162</c:v>
                </c:pt>
                <c:pt idx="6">
                  <c:v>0.48711768091989144</c:v>
                </c:pt>
                <c:pt idx="7">
                  <c:v>0.3933213387715406</c:v>
                </c:pt>
                <c:pt idx="8">
                  <c:v>0.49882803087014216</c:v>
                </c:pt>
                <c:pt idx="9">
                  <c:v>0.4340209659899727</c:v>
                </c:pt>
                <c:pt idx="10">
                  <c:v>0.4884930933051019</c:v>
                </c:pt>
                <c:pt idx="11">
                  <c:v>0.309773379940551</c:v>
                </c:pt>
                <c:pt idx="12">
                  <c:v>0.49096496762489905</c:v>
                </c:pt>
                <c:pt idx="13">
                  <c:v>0.33331752818589183</c:v>
                </c:pt>
                <c:pt idx="14">
                  <c:v>0.3258036317945224</c:v>
                </c:pt>
                <c:pt idx="15">
                  <c:v>0.28885016489225923</c:v>
                </c:pt>
                <c:pt idx="16">
                  <c:v>0.27253255408330884</c:v>
                </c:pt>
                <c:pt idx="17">
                  <c:v>0.32304793492642786</c:v>
                </c:pt>
                <c:pt idx="18">
                  <c:v>0.30069528058538314</c:v>
                </c:pt>
                <c:pt idx="19">
                  <c:v>0.1415359000452987</c:v>
                </c:pt>
                <c:pt idx="20">
                  <c:v>7.337078669719956e-8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tower alone</c:v>
                </c:pt>
              </c:strCache>
            </c:strRef>
          </c:tx>
          <c:spPr>
            <a:solidFill>
              <a:srgbClr val="2F7D4F"/>
            </a:solidFill>
            <a:ln w="25400" cap="flat">
              <a:solidFill>
                <a:srgbClr val="2F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4F"/>
              </a:solidFill>
              <a:ln w="9525" cap="flat">
                <a:solidFill>
                  <a:srgbClr val="2F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5.3</c:v>
                  </c:pt>
                  <c:pt idx="1">
                    <c:v>5.9</c:v>
                  </c:pt>
                  <c:pt idx="2">
                    <c:v>6.6</c:v>
                  </c:pt>
                  <c:pt idx="3">
                    <c:v>7.4</c:v>
                  </c:pt>
                  <c:pt idx="4">
                    <c:v>8.3</c:v>
                  </c:pt>
                  <c:pt idx="5">
                    <c:v>9.2</c:v>
                  </c:pt>
                  <c:pt idx="6">
                    <c:v>10.3</c:v>
                  </c:pt>
                  <c:pt idx="7">
                    <c:v>11.5</c:v>
                  </c:pt>
                  <c:pt idx="8">
                    <c:v>12.9</c:v>
                  </c:pt>
                  <c:pt idx="9">
                    <c:v>14.4</c:v>
                  </c:pt>
                  <c:pt idx="10">
                    <c:v>16.0</c:v>
                  </c:pt>
                  <c:pt idx="11">
                    <c:v>17.9</c:v>
                  </c:pt>
                  <c:pt idx="12">
                    <c:v>20.0</c:v>
                  </c:pt>
                  <c:pt idx="13">
                    <c:v>22.3</c:v>
                  </c:pt>
                  <c:pt idx="14">
                    <c:v>24.9</c:v>
                  </c:pt>
                  <c:pt idx="15">
                    <c:v>27.8</c:v>
                  </c:pt>
                  <c:pt idx="16">
                    <c:v>31.1</c:v>
                  </c:pt>
                  <c:pt idx="17">
                    <c:v>34.7</c:v>
                  </c:pt>
                  <c:pt idx="18">
                    <c:v>38.8</c:v>
                  </c:pt>
                  <c:pt idx="19">
                    <c:v>43.3</c:v>
                  </c:pt>
                  <c:pt idx="20">
                    <c:v>48.3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6.877485240104855e-115</c:v>
                </c:pt>
                <c:pt idx="1">
                  <c:v>8.594987082849676e-102</c:v>
                </c:pt>
                <c:pt idx="2">
                  <c:v>1.1777608666071768e-87</c:v>
                </c:pt>
                <c:pt idx="3">
                  <c:v>6.095627340250836e-72</c:v>
                </c:pt>
                <c:pt idx="4">
                  <c:v>7.226243235392145e-58</c:v>
                </c:pt>
                <c:pt idx="5">
                  <c:v>4.265979037627882e-44</c:v>
                </c:pt>
                <c:pt idx="6">
                  <c:v>1.114083447982396e-30</c:v>
                </c:pt>
                <c:pt idx="7">
                  <c:v>7.995315158292439e-19</c:v>
                </c:pt>
                <c:pt idx="8">
                  <c:v>3.385133167170333e-9</c:v>
                </c:pt>
                <c:pt idx="9">
                  <c:v>0.013994847813430572</c:v>
                </c:pt>
                <c:pt idx="10">
                  <c:v>0.9999987342664391</c:v>
                </c:pt>
                <c:pt idx="11">
                  <c:v>0.9996664711808481</c:v>
                </c:pt>
                <c:pt idx="12">
                  <c:v>0.9997714048529944</c:v>
                </c:pt>
                <c:pt idx="13">
                  <c:v>0.0005955710982354955</c:v>
                </c:pt>
                <c:pt idx="14">
                  <c:v>1.8053637999495254e-15</c:v>
                </c:pt>
                <c:pt idx="15">
                  <c:v>1.3939381203491662e-40</c:v>
                </c:pt>
                <c:pt idx="16">
                  <c:v>3.767819556559442e-86</c:v>
                </c:pt>
                <c:pt idx="17">
                  <c:v>1.0044157525637239e-160</c:v>
                </c:pt>
                <c:pt idx="18">
                  <c:v>5.058576455962502e-264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photographers' heights alone</c:v>
                </c:pt>
              </c:strCache>
            </c:strRef>
          </c:tx>
          <c:spPr>
            <a:solidFill>
              <a:srgbClr val="7C8790"/>
            </a:solidFill>
            <a:ln w="25400" cap="flat">
              <a:solidFill>
                <a:srgbClr val="7C87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C8790"/>
              </a:solidFill>
              <a:ln w="9525" cap="flat">
                <a:solidFill>
                  <a:srgbClr val="7C87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5.3</c:v>
                  </c:pt>
                  <c:pt idx="1">
                    <c:v>5.9</c:v>
                  </c:pt>
                  <c:pt idx="2">
                    <c:v>6.6</c:v>
                  </c:pt>
                  <c:pt idx="3">
                    <c:v>7.4</c:v>
                  </c:pt>
                  <c:pt idx="4">
                    <c:v>8.3</c:v>
                  </c:pt>
                  <c:pt idx="5">
                    <c:v>9.2</c:v>
                  </c:pt>
                  <c:pt idx="6">
                    <c:v>10.3</c:v>
                  </c:pt>
                  <c:pt idx="7">
                    <c:v>11.5</c:v>
                  </c:pt>
                  <c:pt idx="8">
                    <c:v>12.9</c:v>
                  </c:pt>
                  <c:pt idx="9">
                    <c:v>14.4</c:v>
                  </c:pt>
                  <c:pt idx="10">
                    <c:v>16.0</c:v>
                  </c:pt>
                  <c:pt idx="11">
                    <c:v>17.9</c:v>
                  </c:pt>
                  <c:pt idx="12">
                    <c:v>20.0</c:v>
                  </c:pt>
                  <c:pt idx="13">
                    <c:v>22.3</c:v>
                  </c:pt>
                  <c:pt idx="14">
                    <c:v>24.9</c:v>
                  </c:pt>
                  <c:pt idx="15">
                    <c:v>27.8</c:v>
                  </c:pt>
                  <c:pt idx="16">
                    <c:v>31.1</c:v>
                  </c:pt>
                  <c:pt idx="17">
                    <c:v>34.7</c:v>
                  </c:pt>
                  <c:pt idx="18">
                    <c:v>38.8</c:v>
                  </c:pt>
                  <c:pt idx="19">
                    <c:v>43.3</c:v>
                  </c:pt>
                  <c:pt idx="20">
                    <c:v>48.3</c:v>
                  </c:pt>
                </c:lvl>
              </c:multiLvlStrCache>
            </c:multiLvl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0.2858175771972377</c:v>
                </c:pt>
                <c:pt idx="1">
                  <c:v>0.2787568344368697</c:v>
                </c:pt>
                <c:pt idx="2">
                  <c:v>0.26435247095994735</c:v>
                </c:pt>
                <c:pt idx="3">
                  <c:v>0.2484791923242702</c:v>
                </c:pt>
                <c:pt idx="4">
                  <c:v>0.25514820089561946</c:v>
                </c:pt>
                <c:pt idx="5">
                  <c:v>0.2190292589094625</c:v>
                </c:pt>
                <c:pt idx="6">
                  <c:v>0.20428234869653128</c:v>
                </c:pt>
                <c:pt idx="7">
                  <c:v>0.17291022559342506</c:v>
                </c:pt>
                <c:pt idx="8">
                  <c:v>0.14939849340616107</c:v>
                </c:pt>
                <c:pt idx="9">
                  <c:v>0.13762986566477065</c:v>
                </c:pt>
                <c:pt idx="10">
                  <c:v>0.13382401724266754</c:v>
                </c:pt>
                <c:pt idx="11">
                  <c:v>0.1663726578723779</c:v>
                </c:pt>
                <c:pt idx="12">
                  <c:v>0.11295811930244541</c:v>
                </c:pt>
                <c:pt idx="13">
                  <c:v>0.11171728355352718</c:v>
                </c:pt>
                <c:pt idx="14">
                  <c:v>0.09777170515659321</c:v>
                </c:pt>
                <c:pt idx="15">
                  <c:v>0.09218080157864161</c:v>
                </c:pt>
                <c:pt idx="16">
                  <c:v>0.1244835518434582</c:v>
                </c:pt>
                <c:pt idx="17">
                  <c:v>0.08026099680633897</c:v>
                </c:pt>
                <c:pt idx="18">
                  <c:v>0.06558274625055334</c:v>
                </c:pt>
                <c:pt idx="19">
                  <c:v>0.07825505695230803</c:v>
                </c:pt>
                <c:pt idx="20">
                  <c:v>0.08109850747615703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6D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4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414A"/>
                </a:solidFill>
                <a:latin typeface="+mn-lt"/>
              </a:rPr>
              <a:t>recovered scale ÷ true scale (1.00 is exact)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roof edges, all cues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one facade</c:v>
                  </c:pt>
                  <c:pt idx="1">
                    <c:v>two parallel</c:v>
                  </c:pt>
                  <c:pt idx="2">
                    <c:v>a corner</c:v>
                  </c:pt>
                  <c:pt idx="3">
                    <c:v>three facades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0.9700345292206412</c:v>
                </c:pt>
                <c:pt idx="1">
                  <c:v>0.9993733033206051</c:v>
                </c:pt>
                <c:pt idx="2">
                  <c:v>0.9925640007830808</c:v>
                </c:pt>
                <c:pt idx="3">
                  <c:v>1.0032582943099069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 m roof-edge error, all cues</c:v>
                </c:pt>
              </c:strCache>
            </c:strRef>
          </c:tx>
          <c:spPr>
            <a:solidFill>
              <a:srgbClr val="B437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one facade</c:v>
                  </c:pt>
                  <c:pt idx="1">
                    <c:v>two parallel</c:v>
                  </c:pt>
                  <c:pt idx="2">
                    <c:v>a corner</c:v>
                  </c:pt>
                  <c:pt idx="3">
                    <c:v>three facades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1.2165666392848862</c:v>
                </c:pt>
                <c:pt idx="1">
                  <c:v>1.2700961185366861</c:v>
                </c:pt>
                <c:pt idx="2">
                  <c:v>1.2296846901034362</c:v>
                </c:pt>
                <c:pt idx="3">
                  <c:v>1.2267709493131342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m error, without the roof-edge cue</c:v>
                </c:pt>
              </c:strCache>
            </c:strRef>
          </c:tx>
          <c:spPr>
            <a:solidFill>
              <a:srgbClr val="7C87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one facade</c:v>
                  </c:pt>
                  <c:pt idx="1">
                    <c:v>two parallel</c:v>
                  </c:pt>
                  <c:pt idx="2">
                    <c:v>a corner</c:v>
                  </c:pt>
                  <c:pt idx="3">
                    <c:v>three facades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0.9233912891538185</c:v>
                </c:pt>
                <c:pt idx="1">
                  <c:v>0.999736078367201</c:v>
                </c:pt>
                <c:pt idx="2">
                  <c:v>1.0639693867259528</c:v>
                </c:pt>
                <c:pt idx="3">
                  <c:v>1.0029438727743296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41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.8"/>
        </c:scaling>
        <c:delete val="0"/>
        <c:axPos val="l"/>
        <c:majorGridlines>
          <c:spPr>
            <a:ln w="6350" cap="flat">
              <a:solidFill>
                <a:srgbClr val="D6DBD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4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414A"/>
                </a:solidFill>
                <a:latin typeface="+mn-lt"/>
              </a:rPr>
              <a:t>76 photographs with a trustworthy reference pose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photographs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7D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7A1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37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placed</c:v>
                  </c:pt>
                  <c:pt idx="1">
                    <c:v>distance open</c:v>
                  </c:pt>
                  <c:pt idx="2">
                    <c:v>refused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21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D6D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title slide. / 标题页。
EN: Hi, I'm [your name]. This is GhostMap, my COLMAP hacker project. In one sentence: COLMAP gives you a 3D
中文: 大家好，我是［名字］。这是 GhostMap，我的 COLMAP hacker project。一句话：COLMAP 给你的 3D 模型在一个没有意义的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two pictures on the left, top to bottom, then the three points. / 左边两张图从上到下，再讲右边三点。
EN: What GhostMap does, in one picture. Top: what COLMAP gives you from 88 internet photographs of McGraw Tower,
中文: 一张图讲清 GhostMap 做什么。上面：COLMAP 从 88 张钟楼的网络照片给你的东西，一个在自己坐标系里的模型，没有米、没有北、
NEXT / 过渡: It didn't start here. / 一开始不是这个。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three columns, left to right. / 三列，从左到右。
EN: Before this project there were three. The first is where the name comes from: Boardman Hall, Cornell's old
中文: 做这个项目之前，先试过三个方向。第一个是名字的来历：Boardman Hall，康奈尔以前的法学院楼，位置就是现在的 Olin
NEXT / 过渡: So what does COLMAP actually give you? / 那 COLMAP 到底给了你什么？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floating model and the seven dots, then the GPS numbers on the right. / 漂着的模型和七个点，然后是
EN: This is what COLMAP gives you: 88 licensed photographs of the tower and the library, 32 photographers, 5,901
中文: 这是 COLMAP 给你的：88 张钟楼和图书馆的授权照片，32 位摄影者，5,901 个点。看起来没问题，但 SfM 只能把场景恢复到一个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lidar campus. / lidar 校园。
EN: But the United States already has a 3D model of itself: USGS airborne lidar, public domain, in metres,
中文: 但美国本来就有一个自己的 3D 模型：USGS 的机载 lidar，公共领域，以米为单位，覆盖美国大部分地区。再加上
NEXT / 过渡: Here is the whole pipeline. / 下面是完整的流程。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grey lane, the green lane, then the orange one and the three uses. / 先灰色，再绿色，然后橙色和下面
EN: Grey is COLMAP: licensed photographs, hloc features and matches, pycolmap's incremental mapper; out comes a
中文: 灰色是 COLMAP：授权照片，hloc 提特征和匹配，pycolmap 增量建图，出来一个在自己坐标系里的片段。绿色是公开的世界：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left the fragment, right the world. / 左边片段，右边世界。
EN: The two inputs. The fragment: 88 licensed photographs; NetVLAD picks the pairs, SuperPoint and LightGlue
中文: 两个输入。片段：88 张授权照片，NetVLAD 选配对，SuperPoint 和 LightGlue 匹配，pycolmap 建图，得到 88 个相机、5,901 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cue table, row by row. / 线索表，逐行。
EN: No single cue fixes everything, so each one fixes part. Facade normals give the two tilts: walls are
中文: 没有哪条线索能定所有的数，所以每条定一部分。立面法向定两个倾斜：墙是竖直的。摄影者的高度再微调：人站在 lidar 地面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six steps. / 六步。
EN: The search keeps everything it looks at. The vertical comes from the facade normals first. If a tower is in
中文: 搜索把看过的东西都留着。竖直方向先从立面法向来。范围里有塔、而且照片点了它的名，塔轴就钉住位置。然后是网格：朝向每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list on the left, then the placed fragment and its numbers; optionally demo chapter 2 for the snap. /
EN: The certificate is what the search writes down. Bands: how far each number can move before the objective
中文: 证书就是搜索写下来的东西。区间：每个数能动多远，目标函数才掉它量程的十分之一。第二名：离最优 20 度以外的最好朝向，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table, row by row. / 表格，逐行。
EN: Each number on the certificate means something physical. Plus or minus 3.9 percent: the tower top fixes the
中文: 证书上每个数都对应一件物理上的事。±3.9%：塔顶把尺度定到塔高上下约 2 米，只用墙和四条屋檐定出的尺度都落在这个区间里，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curves, then the ablation table. / 曲线，然后右边的消融表。
EN: Here is why "three independent ways" is not a figure of speech. The objective over scale, each cue on its
中文: 这就是为什么"三种独立方式"不是一句修辞。目标函数在尺度上的曲线，每条线索单独画：只用墙、只用屋檐、只用塔、只用摄影者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click the clip (or demo chapter 2). / 点视频（或切到演示第 2 章）。
EN: The fragment floating in COLMAP's frame, then the placement applied: it lands among the lidar buildings and the
中文: 片段漂在 COLMAP 的坐标系里，然后把变换应用上去：它落到 lidar 建筑之间，证书出现。模型本身没有变，变的只是那七个数。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table, then the four layouts on the right. / 表格，然后右边四种布局。
EN: The more useful half is the refusals. The whole campus at once: 339 photographs, 29 fragments, seven big
中文: 更有用的一半是拒绝。整个校园一次重建：339 张照片，29 个片段，7 个够大可以试。7 个全被拒绝，每个有原因：没看到立面、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chart, then the right-hand reading. / 图表，然后右边的解读。
EN: The full synthetic sweep. With exact lidar roof edges, every placement is within 3 percent in scale and the
中文: 完整的合成实验。lidar 屋檐准确时，每个放置的尺度误差都在 3% 以内，结论也都对。给 lidar 一个 3 米的屋檐误差，墙角那个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table, then the reading below. / 表格，然后下面的解读。
EN: A check that needs no ground truth: the same building reconstructed in two fragments, each placed on its own.
中文: 一个不需要真值的检验：同一栋楼在两个片段里各自重建、各自放置。钟楼对每个校园片段都在约 1 米内一致，因为地标把它钉住了。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five steps, the two pictures, the four numbers; then demo chapter 11: a long-lens photograph in
EN: Back to the photograph from the start. COLMAP can register a new image, but into its own frame; here the
中文: 回到开头那张照片。COLMAP 能注册新照片，但只能进它自己的坐标系；这里的参考是放好的片段，所以同样的注册直接落在地图上。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click the clip, or do it live on chapter 11 with your own phone photograph. / 点视频，或者在第 11 章用自己
EN: A photograph from the tray, placed in about two seconds without GPS; the camera moves to where the photographer
中文: 托盘里的一张照片，不用 GPS 大约两秒放好；镜头移到摄影者站的位置，照片投影到城市上；然后 88 张照片各自从自己的位姿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chart, then the four numbers with their meaning. / 图表，然后四个数字和它们的意思。
EN: The test: each of the 88 photographs taken out of the reconstruction and placed again from scratch, scored on
中文: 检验：88 张照片每张拿出重建、从头再放，在 76 张参考位姿本身可信的照片上打分。0.7 米：一半的放置落在离重建位姿一步之内；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two panels; optionally demo chapter 5 (the fly-through, tick "paint each Gaussian by the lidar's
EN: Once the model is in metres, the lidar becomes a referee. I trained Gaussian splats from the same
中文: 模型一旦以米为单位，lidar 就成了裁判。我用同样的照片训练 Gaussian splat。普通的 splat 有 41% 的高斯埋在地面以下。加上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two rows. / 两行图。
EN: Two photographs never used in training, rendered by each splat from the pose the placement gave them; the
中文: 两张训练时没用过的照片，由两个 splat 各自从放置给出的位姿渲染；数字是对照片的 PSNR。看起来差不多：lidar 规则不损失画质。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click the clip (or demo chapter 5 with "paint each Gaussian by the lidar's verdict"). / 点视频（或演示第 5
EN: A camera path no photographer took; left the plain splat, right the lidar-taught one, every Gaussian painted by
中文: 一条没有摄影者走过的路径；左边普通 splat，右边 lidar 教过的，每个高斯按 lidar 的判定上色：红是 lidar 测到为空的空气里的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table, then the claim box. / 表格，然后下面的主张。
EN: What is new here, honestly. Aligning reconstructions to maps goes back to Kaminsky and colleagues in 2009;
中文: 诚实地说什么是新的。把重建对到地图上，2009 年 Kaminsky 等人就做过；Wang、Wilson 和 Snavely 2013 年用地理标签做；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four rows: gap, work, hoped end. / 四行：缺口、要做的、希望的终点。
EN: So this is the work still open, and I'd like to continue it as the final project. Independent truth: my own
中文: 这就是还开着的工作，我想作为 final project 继续做。独立真值：我自己带 GPS 的手机照片，以及任何拟合都不读的留出地理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the closing slide; leave the demo open for questions. / 结束页；演示页面开着答问。
EN: COLMAP's frame is arbitrary; the world's isn't. With public data only and no GPS, a reconstruction can be
中文: COLMAP 的坐标系是随便定的，真实世界的不是。只用公开数据、不用 GPS，重建可以被放进世界，放不了的时候它也会说。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 操作: for questions on the refusal reasons. / 有人问拒绝原因时用。
EN: A synthetic hall with a known answer, seen from above; cameras in black, the facades they see in colour. One
中文: 一个答案已知的合成建筑，从上往下看；相机是黑点，看到的立面是彩色。一面墙尺度自由；两面平行墙沿墙的位置自由；一个墙角或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56692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56692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GhostMap · CS 6672      map data © OpenStreetMap contributors · lidar USGS 3DEP · aerial imagery NYS GIS Program Office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8-1.mp4"/><Relationship Id="rId2" Type="http://schemas.microsoft.com/office/2007/relationships/media" Target="../media/media-18-1.mp4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2-1.mp4"/><Relationship Id="rId2" Type="http://schemas.microsoft.com/office/2007/relationships/media" Target="../media/media-22-1.mp4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GhostMap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CS 6672 · COLMAP HACKER PROJECT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91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Putting COLMAP reconstructions into the real world, without GPS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74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DB3"/>
                </a:solidFill>
              </a:rPr>
              <a:t>Public data only: USGS 3DEP lidar · OpenStreetMap footprints · New York State aerial imagery · licensed photographs from Wikimedia Commons and Flickr</a:t>
            </a:r>
            <a:endParaRPr lang="en-US" sz="1200" dirty="0"/>
          </a:p>
        </p:txBody>
      </p:sp>
      <p:pic>
        <p:nvPicPr>
          <p:cNvPr id="7" name="A photograph painted onto the lidar city from where its photographer stood" descr="A photograph painted onto the lidar city from where its photographer sto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029200" cy="3171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4698213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photograph painted onto the lidar model of Cornell from where it was taken. Photograph: joebeone, CC BY 2.0 (Flickr).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GhostMap does</a:t>
            </a:r>
            <a:endParaRPr lang="en-US" sz="3200" dirty="0"/>
          </a:p>
        </p:txBody>
      </p:sp>
      <p:pic>
        <p:nvPicPr>
          <p:cNvPr id="4" name="COLMAP's reconstruction floating in its own frame" descr="COLMAP's reconstruction floating in its own 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335371" cy="2103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470400" y="1280160"/>
            <a:ext cx="202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COLMAP's output: 88 internet photographs of McGraw Tower as a model in a frame of its own. No metres, no north, no up, no place on Earth.</a:t>
            </a:r>
            <a:endParaRPr lang="en-US" sz="1300" dirty="0"/>
          </a:p>
        </p:txBody>
      </p:sp>
      <p:sp>
        <p:nvSpPr>
          <p:cNvPr id="6" name="placed"/>
          <p:cNvSpPr/>
          <p:nvPr/>
        </p:nvSpPr>
        <p:spPr>
          <a:xfrm>
            <a:off x="2418080" y="3493008"/>
            <a:ext cx="914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pic>
        <p:nvPicPr>
          <p:cNvPr id="7" name="The same reconstruction placed in metres on the lidar campus" descr="The same reconstruction placed in metres on the lidar cam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3335371" cy="2103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470400" y="3931920"/>
            <a:ext cx="202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same model placed in metres on the campus, without GPS, from public lidar and map footprints, with a certificate that says which cue fixed which number.</a:t>
            </a:r>
            <a:endParaRPr lang="en-US" sz="1300" dirty="0"/>
          </a:p>
        </p:txBody>
      </p:sp>
      <p:sp>
        <p:nvSpPr>
          <p:cNvPr id="9" name="number 1"/>
          <p:cNvSpPr/>
          <p:nvPr/>
        </p:nvSpPr>
        <p:spPr>
          <a:xfrm>
            <a:off x="6675120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6751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269480" y="128016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Places a COLMAP reconstruction in the real world, without GPS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7269480" y="1874520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USGS lidar and OpenStreetMap footprints fix the seven numbers COLMAP leaves free; the certificate names the cue behind each (scale here: ±3.9 %, three independent ways)</a:t>
            </a:r>
            <a:endParaRPr lang="en-US" sz="1300" dirty="0"/>
          </a:p>
        </p:txBody>
      </p:sp>
      <p:sp>
        <p:nvSpPr>
          <p:cNvPr id="13" name="number 2"/>
          <p:cNvSpPr/>
          <p:nvPr/>
        </p:nvSpPr>
        <p:spPr>
          <a:xfrm>
            <a:off x="6675120" y="28529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512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283464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Refuses when the geometry can't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3429000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all 7 campus fragments refused, each with its reason; the 3 that GPS could check were 64 m to 845 m off, and all 3 had been refused</a:t>
            </a:r>
            <a:endParaRPr lang="en-US" sz="1300" dirty="0"/>
          </a:p>
        </p:txBody>
      </p:sp>
      <p:sp>
        <p:nvSpPr>
          <p:cNvPr id="17" name="number 3"/>
          <p:cNvSpPr/>
          <p:nvPr/>
        </p:nvSpPr>
        <p:spPr>
          <a:xfrm>
            <a:off x="6675120" y="44074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751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269480" y="438912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Places a new photograph in about two seconds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4983480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53 of 76 within a median 0.7 m when taken out and placed again; painted back onto the lidar city from where it was taken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58978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Built on pycolmap and hloc, public data only; a live demo page; then the lidar as referee and teacher for the splats.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we tried first</a:t>
            </a:r>
            <a:endParaRPr lang="en-US" sz="3200" dirty="0"/>
          </a:p>
        </p:txBody>
      </p:sp>
      <p:pic>
        <p:nvPicPr>
          <p:cNvPr id="4" name="Boardman Hall and the library on a 1934 postcard" descr="Boardman Hall and the library on a 1934 post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033673" cy="1920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24612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1934 postcard (public domain).</a:t>
            </a:r>
            <a:endParaRPr lang="en-US" sz="1100" dirty="0"/>
          </a:p>
        </p:txBody>
      </p:sp>
      <p:pic>
        <p:nvPicPr>
          <p:cNvPr id="6" name="The campus fragments, each refused with a reason" descr="The campus fragments, each refused with a rea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280160"/>
            <a:ext cx="3045338" cy="19202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337304" y="324612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campus fragments, refused (demo, chapter 3).</a:t>
            </a:r>
            <a:endParaRPr lang="en-US" sz="1100" dirty="0"/>
          </a:p>
        </p:txBody>
      </p:sp>
      <p:pic>
        <p:nvPicPr>
          <p:cNvPr id="8" name="The Gates Hall site in the 2007 flight: a parking lot" descr="The Gates Hall site in the 2007 flight: a parking lot">    </p:cNvPr>
          <p:cNvPicPr>
            <a:picLocks noChangeAspect="1"/>
          </p:cNvPicPr>
          <p:nvPr/>
        </p:nvPicPr>
        <p:blipFill>
          <a:blip r:embed="rId3"/>
          <a:srcRect l="40000" r="15000" t="30000" b="38000"/>
          <a:stretch/>
        </p:blipFill>
        <p:spPr>
          <a:xfrm>
            <a:off x="8125968" y="1280160"/>
            <a:ext cx="1702308" cy="1210530"/>
          </a:xfrm>
          <a:prstGeom prst="rect">
            <a:avLst/>
          </a:prstGeom>
        </p:spPr>
      </p:pic>
      <p:pic>
        <p:nvPicPr>
          <p:cNvPr id="9" name="The Gates Hall site in the 2015 flight: the building" descr="The Gates Hall site in the 2015 flight: the building">    </p:cNvPr>
          <p:cNvPicPr>
            <a:picLocks noChangeAspect="1"/>
          </p:cNvPicPr>
          <p:nvPr/>
        </p:nvPicPr>
        <p:blipFill>
          <a:blip r:embed="rId4"/>
          <a:srcRect l="40000" r="15000" t="30000" b="38000"/>
          <a:stretch/>
        </p:blipFill>
        <p:spPr>
          <a:xfrm>
            <a:off x="9938004" y="1280160"/>
            <a:ext cx="1702308" cy="121053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8125968" y="2536410"/>
            <a:ext cx="1702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2007: a parking lot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9938004" y="2536410"/>
            <a:ext cx="1702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2015: Gates Hall</a:t>
            </a:r>
            <a:endParaRPr lang="en-US" sz="1100" dirty="0"/>
          </a:p>
        </p:txBody>
      </p:sp>
      <p:sp>
        <p:nvSpPr>
          <p:cNvPr id="12" name="number 1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051560" y="359359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Bring back a demolished building from old postcards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438912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 images</a:t>
            </a:r>
            <a:endParaRPr lang="en-US" sz="26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4892040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placed view fits the tower to a few pixels, from the wrong side: the tower's four faces look alike, and nobody photographed it from the postcards' side.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57607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stopped by the record and the geometry</a:t>
            </a:r>
            <a:endParaRPr lang="en-US" sz="1100" dirty="0"/>
          </a:p>
        </p:txBody>
      </p:sp>
      <p:sp>
        <p:nvSpPr>
          <p:cNvPr id="18" name="number 2"/>
          <p:cNvSpPr/>
          <p:nvPr/>
        </p:nvSpPr>
        <p:spPr>
          <a:xfrm>
            <a:off x="4337304" y="3611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337304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840224" y="359359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3D model of the whole Arts Quad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4337304" y="438912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pieces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4337304" y="4892040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339 photographs reconstructed at once come out as 29 separate fragments: people photograph landmarks, not the walls between them.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4337304" y="57607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stopped by coverage</a:t>
            </a:r>
            <a:endParaRPr lang="en-US" sz="1100" dirty="0"/>
          </a:p>
        </p:txBody>
      </p:sp>
      <p:sp>
        <p:nvSpPr>
          <p:cNvPr id="24" name="number 3"/>
          <p:cNvSpPr/>
          <p:nvPr/>
        </p:nvSpPr>
        <p:spPr>
          <a:xfrm>
            <a:off x="8125968" y="3611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12596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628888" y="359359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Watch the campus change in 3D, 2002 to 2026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125968" y="438912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photographs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8125968" y="4892040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one licensed photograph of any construction site before its building went up; the "before" exists only from the air.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8125968" y="57607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stopped by the record; the mechanism dates from 2014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126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 three needed the same thing: a COLMAP model that knows where it 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free numbers, and why GPS can't fix them here</a:t>
            </a:r>
            <a:endParaRPr lang="en-US" sz="3200" dirty="0"/>
          </a:p>
        </p:txBody>
      </p:sp>
      <p:pic>
        <p:nvPicPr>
          <p:cNvPr id="4" name="The reconstruction floating in COLMAP's own frame" descr="The reconstruction floating in COLMAP's own 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20580" cy="3291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645152"/>
            <a:ext cx="522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COLMAP's cameras (blue) and points, at their native size and orientation (live demo, chapter 1).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983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88 licensed photographs · 32 photographers · 5,901 points · dated 2003–2025</a:t>
            </a:r>
            <a:endParaRPr lang="en-US" sz="1300" dirty="0"/>
          </a:p>
        </p:txBody>
      </p:sp>
      <p:sp>
        <p:nvSpPr>
          <p:cNvPr id="7" name="dofs tilt"/>
          <p:cNvSpPr/>
          <p:nvPr/>
        </p:nvSpPr>
        <p:spPr>
          <a:xfrm>
            <a:off x="59436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tilt</a:t>
            </a:r>
            <a:endParaRPr lang="en-US" sz="1000" dirty="0"/>
          </a:p>
        </p:txBody>
      </p:sp>
      <p:sp>
        <p:nvSpPr>
          <p:cNvPr id="9" name="dofs tilt"/>
          <p:cNvSpPr/>
          <p:nvPr/>
        </p:nvSpPr>
        <p:spPr>
          <a:xfrm>
            <a:off x="114300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1498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tilt</a:t>
            </a:r>
            <a:endParaRPr lang="en-US" sz="1000" dirty="0"/>
          </a:p>
        </p:txBody>
      </p:sp>
      <p:sp>
        <p:nvSpPr>
          <p:cNvPr id="11" name="dofs heading"/>
          <p:cNvSpPr/>
          <p:nvPr/>
        </p:nvSpPr>
        <p:spPr>
          <a:xfrm>
            <a:off x="169164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56362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heading</a:t>
            </a:r>
            <a:endParaRPr lang="en-US" sz="1000" dirty="0"/>
          </a:p>
        </p:txBody>
      </p:sp>
      <p:sp>
        <p:nvSpPr>
          <p:cNvPr id="13" name="dofs scale"/>
          <p:cNvSpPr/>
          <p:nvPr/>
        </p:nvSpPr>
        <p:spPr>
          <a:xfrm>
            <a:off x="224028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1226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scale</a:t>
            </a:r>
            <a:endParaRPr lang="en-US" sz="1000" dirty="0"/>
          </a:p>
        </p:txBody>
      </p:sp>
      <p:sp>
        <p:nvSpPr>
          <p:cNvPr id="15" name="dofs east"/>
          <p:cNvSpPr/>
          <p:nvPr/>
        </p:nvSpPr>
        <p:spPr>
          <a:xfrm>
            <a:off x="278892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66090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east</a:t>
            </a:r>
            <a:endParaRPr lang="en-US" sz="1000" dirty="0"/>
          </a:p>
        </p:txBody>
      </p:sp>
      <p:sp>
        <p:nvSpPr>
          <p:cNvPr id="17" name="dofs north"/>
          <p:cNvSpPr/>
          <p:nvPr/>
        </p:nvSpPr>
        <p:spPr>
          <a:xfrm>
            <a:off x="333756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0954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north</a:t>
            </a:r>
            <a:endParaRPr lang="en-US" sz="1000" dirty="0"/>
          </a:p>
        </p:txBody>
      </p:sp>
      <p:sp>
        <p:nvSpPr>
          <p:cNvPr id="19" name="dofs height"/>
          <p:cNvSpPr/>
          <p:nvPr/>
        </p:nvSpPr>
        <p:spPr>
          <a:xfrm>
            <a:off x="3886200" y="548640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758184" y="5824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height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5504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seven numbers COLMAP leaves free: 1 scale, 3 rotations, 3 translations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1280160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COLMAP's own fix: model_aligner, from known camera positions, usually GPS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tag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8458200" y="210312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GPS among the 88 photographs, and it is 1.7 km off: it points to downtown Ithaca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8458200" y="320040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the 88 are Flickr web copies downloaded without any metadata, so their GPS is unknown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≈11 m</a:t>
            </a:r>
            <a:endParaRPr lang="en-US" sz="2600" dirty="0"/>
          </a:p>
        </p:txBody>
      </p:sp>
      <p:sp>
        <p:nvSpPr>
          <p:cNvPr id="28" name="Text 24"/>
          <p:cNvSpPr txBox="1"/>
          <p:nvPr/>
        </p:nvSpPr>
        <p:spPr>
          <a:xfrm>
            <a:off x="8458200" y="429768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GPS fit error at Gates Hall, the one fragment with 6 tags: where it puts a held-out camera</a:t>
            </a:r>
            <a:endParaRPr lang="en-US" sz="1300" dirty="0"/>
          </a:p>
        </p:txBody>
      </p:sp>
      <p:sp>
        <p:nvSpPr>
          <p:cNvPr id="29" name="gps rule"/>
          <p:cNvSpPr/>
          <p:nvPr/>
        </p:nvSpPr>
        <p:spPr>
          <a:xfrm>
            <a:off x="6720840" y="5440680"/>
            <a:ext cx="49194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903720" y="5513832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similarity needs at least three good, well-spread positions per fragment; 129 of 393 Commons photographs carry GPS, just not where it matters, and a wrong tag never announces itself.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already has a 3D model</a:t>
            </a:r>
            <a:endParaRPr lang="en-US" sz="3200" dirty="0"/>
          </a:p>
        </p:txBody>
      </p:sp>
      <p:pic>
        <p:nvPicPr>
          <p:cNvPr id="4" name="The campus: lidar terrain and buildings draped with an aerial photograph" descr="The campus: lidar terrain and buildings draped with an aerial photo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62472" cy="3822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5194295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Cornell from USGS lidar, OpenStreetMap footprints and the 2023 New York State flight (live demo, chapter 6).</a:t>
            </a:r>
            <a:endParaRPr lang="en-US" sz="1100" dirty="0"/>
          </a:p>
        </p:txBody>
      </p:sp>
      <p:sp>
        <p:nvSpPr>
          <p:cNvPr id="6" name="source 1"/>
          <p:cNvSpPr/>
          <p:nvPr/>
        </p:nvSpPr>
        <p:spPr>
          <a:xfrm>
            <a:off x="548640" y="1435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6012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USGS 3DEP airborne lidar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public domain, in metres, most of the US</a:t>
            </a:r>
            <a:endParaRPr lang="en-US" sz="1400" dirty="0"/>
          </a:p>
        </p:txBody>
      </p:sp>
      <p:sp>
        <p:nvSpPr>
          <p:cNvPr id="9" name="source 2"/>
          <p:cNvSpPr/>
          <p:nvPr/>
        </p:nvSpPr>
        <p:spPr>
          <a:xfrm>
            <a:off x="548640" y="230428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012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OpenStreetMap footprints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building's outline, raised to its lidar roof</a:t>
            </a:r>
            <a:endParaRPr lang="en-US" sz="1400" dirty="0"/>
          </a:p>
        </p:txBody>
      </p:sp>
      <p:sp>
        <p:nvSpPr>
          <p:cNvPr id="12" name="source 3"/>
          <p:cNvSpPr/>
          <p:nvPr/>
        </p:nvSpPr>
        <p:spPr>
          <a:xfrm>
            <a:off x="548640" y="31729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York State aerial imagery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3474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six flights, 2002 to 2023, draped on the terrain</a:t>
            </a:r>
            <a:endParaRPr lang="en-US" sz="1400" dirty="0"/>
          </a:p>
        </p:txBody>
      </p:sp>
      <p:sp>
        <p:nvSpPr>
          <p:cNvPr id="15" name="the question"/>
          <p:cNvSpPr/>
          <p:nvPr/>
        </p:nvSpPr>
        <p:spPr>
          <a:xfrm>
            <a:off x="548640" y="4069080"/>
            <a:ext cx="47548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4251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public measurements fix COLMAP's seven free numbers instead of GPS, and say so when they can't?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4" name="colmap lane"/>
          <p:cNvSpPr/>
          <p:nvPr/>
        </p:nvSpPr>
        <p:spPr>
          <a:xfrm>
            <a:off x="548640" y="1234440"/>
            <a:ext cx="5408676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COLMAP · PYCOLMAP · HLOC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Licensed photographs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Wikimedia Commons and Flickr; licence and duplicate checks</a:t>
            </a:r>
            <a:endParaRPr lang="en-US" sz="1100" dirty="0"/>
          </a:p>
        </p:txBody>
      </p:sp>
      <p:sp>
        <p:nvSpPr>
          <p:cNvPr id="8" name="colmap lane flow 1"/>
          <p:cNvSpPr/>
          <p:nvPr/>
        </p:nvSpPr>
        <p:spPr>
          <a:xfrm>
            <a:off x="2257044" y="1901952"/>
            <a:ext cx="21945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503932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Features and matches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03932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NetVLAD pairs, SuperPoint keypoints, LightGlue matches</a:t>
            </a:r>
            <a:endParaRPr lang="en-US" sz="1100" dirty="0"/>
          </a:p>
        </p:txBody>
      </p:sp>
      <p:sp>
        <p:nvSpPr>
          <p:cNvPr id="11" name="colmap lane flow 2"/>
          <p:cNvSpPr/>
          <p:nvPr/>
        </p:nvSpPr>
        <p:spPr>
          <a:xfrm>
            <a:off x="4029456" y="1901952"/>
            <a:ext cx="21945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276344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Incremental mapping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76344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pycolmap: 88 cameras, 5,901 points, in a frame of its own</a:t>
            </a:r>
            <a:endParaRPr lang="en-US" sz="1100" dirty="0"/>
          </a:p>
        </p:txBody>
      </p:sp>
      <p:sp>
        <p:nvSpPr>
          <p:cNvPr id="14" name="world lane"/>
          <p:cNvSpPr/>
          <p:nvPr/>
        </p:nvSpPr>
        <p:spPr>
          <a:xfrm>
            <a:off x="6231636" y="1234440"/>
            <a:ext cx="5408676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4516" y="132588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THE PUBLIC WORLD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14516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USGS 3DEP lidar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640 m box as two rasters, the surface and the bare ground, 0.5 m cells, UTM 18N</a:t>
            </a:r>
            <a:endParaRPr lang="en-US" sz="1100" dirty="0"/>
          </a:p>
        </p:txBody>
      </p:sp>
      <p:sp>
        <p:nvSpPr>
          <p:cNvPr id="18" name="world lane flow 1"/>
          <p:cNvSpPr/>
          <p:nvPr/>
        </p:nvSpPr>
        <p:spPr>
          <a:xfrm>
            <a:off x="7940040" y="1901952"/>
            <a:ext cx="21945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8186928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OpenStreetMap footprints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186928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1,078 outlines: wall distance fields, roof edges, inside masks</a:t>
            </a:r>
            <a:endParaRPr lang="en-US" sz="1100" dirty="0"/>
          </a:p>
        </p:txBody>
      </p:sp>
      <p:sp>
        <p:nvSpPr>
          <p:cNvPr id="21" name="world lane flow 2"/>
          <p:cNvSpPr/>
          <p:nvPr/>
        </p:nvSpPr>
        <p:spPr>
          <a:xfrm>
            <a:off x="9712452" y="1901952"/>
            <a:ext cx="21945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9959340" y="1691640"/>
            <a:ext cx="1498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city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959340" y="2194560"/>
            <a:ext cx="14980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footprint raised from the lidar ground to the lidar roof; what the page draws</a:t>
            </a:r>
            <a:endParaRPr lang="en-US" sz="1100" dirty="0"/>
          </a:p>
        </p:txBody>
      </p:sp>
      <p:sp>
        <p:nvSpPr>
          <p:cNvPr id="24" name="ghostmap lane"/>
          <p:cNvSpPr/>
          <p:nvPr/>
        </p:nvSpPr>
        <p:spPr>
          <a:xfrm>
            <a:off x="548640" y="3474720"/>
            <a:ext cx="11091672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GHOSTMAP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858768"/>
            <a:ext cx="247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187952"/>
            <a:ext cx="24757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walls · roof edges · photographers' heights · tower top · free space · cameras outside</a:t>
            </a:r>
            <a:endParaRPr lang="en-US" sz="1100" dirty="0"/>
          </a:p>
        </p:txBody>
      </p:sp>
      <p:sp>
        <p:nvSpPr>
          <p:cNvPr id="28" name="ghostmap flow 1"/>
          <p:cNvSpPr/>
          <p:nvPr/>
        </p:nvSpPr>
        <p:spPr>
          <a:xfrm>
            <a:off x="3243834" y="4014216"/>
            <a:ext cx="201168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481578" y="3858768"/>
            <a:ext cx="247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Search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481578" y="4187952"/>
            <a:ext cx="24757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over the seven numbers: a heading × scale grid, position by descent, refinement, levelling; every score kept</a:t>
            </a:r>
            <a:endParaRPr lang="en-US" sz="1100" dirty="0"/>
          </a:p>
        </p:txBody>
      </p:sp>
      <p:sp>
        <p:nvSpPr>
          <p:cNvPr id="31" name="ghostmap flow 2"/>
          <p:cNvSpPr/>
          <p:nvPr/>
        </p:nvSpPr>
        <p:spPr>
          <a:xfrm>
            <a:off x="5993892" y="4014216"/>
            <a:ext cx="201168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6231636" y="3858768"/>
            <a:ext cx="247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Certificate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231636" y="4187952"/>
            <a:ext cx="24757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bands, runner-up heading, per-cue ablation, cue profiles: usable, or refused with the reason</a:t>
            </a:r>
            <a:endParaRPr lang="en-US" sz="1100" dirty="0"/>
          </a:p>
        </p:txBody>
      </p:sp>
      <p:sp>
        <p:nvSpPr>
          <p:cNvPr id="34" name="ghostmap flow 3"/>
          <p:cNvSpPr/>
          <p:nvPr/>
        </p:nvSpPr>
        <p:spPr>
          <a:xfrm>
            <a:off x="8743950" y="4014216"/>
            <a:ext cx="201168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8981694" y="3858768"/>
            <a:ext cx="247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Apply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981694" y="4187952"/>
            <a:ext cx="24757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Reconstruction.transform(Sim3d): the fragment in metres on the campus</a:t>
            </a:r>
            <a:endParaRPr lang="en-US" sz="1100" dirty="0"/>
          </a:p>
        </p:txBody>
      </p:sp>
      <p:sp>
        <p:nvSpPr>
          <p:cNvPr id="37" name="the fragment goes in"/>
          <p:cNvSpPr/>
          <p:nvPr/>
        </p:nvSpPr>
        <p:spPr>
          <a:xfrm>
            <a:off x="3252978" y="3154680"/>
            <a:ext cx="914" cy="29260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the world goes in"/>
          <p:cNvSpPr/>
          <p:nvPr/>
        </p:nvSpPr>
        <p:spPr>
          <a:xfrm>
            <a:off x="8935974" y="3154680"/>
            <a:ext cx="914" cy="29260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the placed fragment comes out"/>
          <p:cNvSpPr/>
          <p:nvPr/>
        </p:nvSpPr>
        <p:spPr>
          <a:xfrm>
            <a:off x="6094476" y="4937760"/>
            <a:ext cx="914" cy="24688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use 1"/>
          <p:cNvSpPr/>
          <p:nvPr/>
        </p:nvSpPr>
        <p:spPr>
          <a:xfrm>
            <a:off x="548640" y="5212080"/>
            <a:ext cx="351434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31520" y="530352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new photograph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56235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retrieve · match · RANSAC pose · placed, distance open, or refused; painted onto the city</a:t>
            </a:r>
            <a:endParaRPr lang="en-US" sz="1100" dirty="0"/>
          </a:p>
        </p:txBody>
      </p:sp>
      <p:sp>
        <p:nvSpPr>
          <p:cNvPr id="43" name="use 2"/>
          <p:cNvSpPr/>
          <p:nvPr/>
        </p:nvSpPr>
        <p:spPr>
          <a:xfrm>
            <a:off x="4337304" y="5212080"/>
            <a:ext cx="351434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20184" y="530352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Splats refereed and taught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4520184" y="56235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every Gaussian scored against lidar free space; one lidar rule in training</a:t>
            </a:r>
            <a:endParaRPr lang="en-US" sz="1100" dirty="0"/>
          </a:p>
        </p:txBody>
      </p:sp>
      <p:sp>
        <p:nvSpPr>
          <p:cNvPr id="46" name="use 3"/>
          <p:cNvSpPr/>
          <p:nvPr/>
        </p:nvSpPr>
        <p:spPr>
          <a:xfrm>
            <a:off x="8125968" y="5212080"/>
            <a:ext cx="351434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308848" y="530352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Time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308848" y="56235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 aerial flights 2002–2023, dated buildings, years per 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the two inputs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The fragment, from COLMAP</a:t>
            </a:r>
            <a:endParaRPr lang="en-US" sz="1800" dirty="0"/>
          </a:p>
        </p:txBody>
      </p:sp>
      <p:pic>
        <p:nvPicPr>
          <p:cNvPr id="5" name="The reconstruction in COLMAP's own frame" descr="The reconstruction in COLMAP's own 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80387" cy="2194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97764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photographs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6168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licensed, 32 photographers, the dated ones 2003–2025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NetVLAD · SuperPoint · LightGlue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3892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pairs, keypoints and matches (hloc), then pycolmap's incremental mapper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3212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5,901 points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91616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and 88 cameras, with the facade normals and the photographers' positions the cues read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277356" y="118872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world, from public data</a:t>
            </a:r>
            <a:endParaRPr lang="en-US" sz="1800" dirty="0"/>
          </a:p>
        </p:txBody>
      </p:sp>
      <p:pic>
        <p:nvPicPr>
          <p:cNvPr id="13" name="The lidar campus" descr="The lidar cam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600200"/>
            <a:ext cx="3480387" cy="21945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77356" y="397764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 m box, 0.5 m cells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77356" y="436168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USGS 3DEP lidar in UTM 18N as two rasters: the surface and the bare ground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277356" y="475488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1,078 footprints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7356" y="513892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OpenStreetMap outlines: wall distance fields, roof edges read from the lidar just inside each wall, inside masks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77356" y="5532120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city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277356" y="5916168"/>
            <a:ext cx="5362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footprint raised from the lidar ground to the lidar roof; the model the page draws and paints 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each cue fixes some of the seven numbers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tilt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211312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tilt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heading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272016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scale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802368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east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north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863072" y="1234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height</a:t>
            </a:r>
            <a:endParaRPr lang="en-US" sz="1100" dirty="0"/>
          </a:p>
        </p:txBody>
      </p:sp>
      <p:sp>
        <p:nvSpPr>
          <p:cNvPr id="11" name="row band 1"/>
          <p:cNvSpPr/>
          <p:nvPr/>
        </p:nvSpPr>
        <p:spPr>
          <a:xfrm>
            <a:off x="548640" y="1572768"/>
            <a:ext cx="11091672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Facade normals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645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walls are vertical: the up direction, before the search</a:t>
            </a:r>
            <a:endParaRPr lang="en-US" sz="1300" dirty="0"/>
          </a:p>
        </p:txBody>
      </p:sp>
      <p:sp>
        <p:nvSpPr>
          <p:cNvPr id="14" name="Facade normals tilt"/>
          <p:cNvSpPr/>
          <p:nvPr/>
        </p:nvSpPr>
        <p:spPr>
          <a:xfrm>
            <a:off x="7818120" y="172821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Facade normals tilt"/>
          <p:cNvSpPr/>
          <p:nvPr/>
        </p:nvSpPr>
        <p:spPr>
          <a:xfrm>
            <a:off x="8348472" y="172821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Facade normals heading"/>
          <p:cNvSpPr/>
          <p:nvPr/>
        </p:nvSpPr>
        <p:spPr>
          <a:xfrm>
            <a:off x="8878824" y="172821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Facade normals scale"/>
          <p:cNvSpPr/>
          <p:nvPr/>
        </p:nvSpPr>
        <p:spPr>
          <a:xfrm>
            <a:off x="9409176" y="172821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8" name="Facade normals east"/>
          <p:cNvSpPr/>
          <p:nvPr/>
        </p:nvSpPr>
        <p:spPr>
          <a:xfrm>
            <a:off x="9939528" y="172821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Facade normals north"/>
          <p:cNvSpPr/>
          <p:nvPr/>
        </p:nvSpPr>
        <p:spPr>
          <a:xfrm>
            <a:off x="10469880" y="172821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0" name="Facade normals height"/>
          <p:cNvSpPr/>
          <p:nvPr/>
        </p:nvSpPr>
        <p:spPr>
          <a:xfrm>
            <a:off x="11000232" y="172821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22494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Photographers' heights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337560" y="22494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people stand 1.6 ± 0.3 m above the lidar ground</a:t>
            </a:r>
            <a:endParaRPr lang="en-US" sz="1300" dirty="0"/>
          </a:p>
        </p:txBody>
      </p:sp>
      <p:sp>
        <p:nvSpPr>
          <p:cNvPr id="23" name="Photographers' heights tilt"/>
          <p:cNvSpPr/>
          <p:nvPr/>
        </p:nvSpPr>
        <p:spPr>
          <a:xfrm>
            <a:off x="7818120" y="233172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Photographers' heights tilt"/>
          <p:cNvSpPr/>
          <p:nvPr/>
        </p:nvSpPr>
        <p:spPr>
          <a:xfrm>
            <a:off x="8348472" y="233172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Photographers' heights heading"/>
          <p:cNvSpPr/>
          <p:nvPr/>
        </p:nvSpPr>
        <p:spPr>
          <a:xfrm>
            <a:off x="8878824" y="233172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6" name="Photographers' heights scale"/>
          <p:cNvSpPr/>
          <p:nvPr/>
        </p:nvSpPr>
        <p:spPr>
          <a:xfrm>
            <a:off x="9409176" y="233172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7" name="Photographers' heights east"/>
          <p:cNvSpPr/>
          <p:nvPr/>
        </p:nvSpPr>
        <p:spPr>
          <a:xfrm>
            <a:off x="9939528" y="233172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8" name="Photographers' heights north"/>
          <p:cNvSpPr/>
          <p:nvPr/>
        </p:nvSpPr>
        <p:spPr>
          <a:xfrm>
            <a:off x="10469880" y="233172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Photographers' heights height"/>
          <p:cNvSpPr/>
          <p:nvPr/>
        </p:nvSpPr>
        <p:spPr>
          <a:xfrm>
            <a:off x="11000232" y="233172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0" name="row band 3"/>
          <p:cNvSpPr/>
          <p:nvPr/>
        </p:nvSpPr>
        <p:spPr>
          <a:xfrm>
            <a:off x="548640" y="2779776"/>
            <a:ext cx="11091672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2852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OpenStreetMap walls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3337560" y="28529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points on the walls: precision over every wall, recall over the named building's</a:t>
            </a:r>
            <a:endParaRPr lang="en-US" sz="1300" dirty="0"/>
          </a:p>
        </p:txBody>
      </p:sp>
      <p:sp>
        <p:nvSpPr>
          <p:cNvPr id="33" name="OpenStreetMap walls tilt"/>
          <p:cNvSpPr/>
          <p:nvPr/>
        </p:nvSpPr>
        <p:spPr>
          <a:xfrm>
            <a:off x="7818120" y="2935224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4" name="OpenStreetMap walls tilt"/>
          <p:cNvSpPr/>
          <p:nvPr/>
        </p:nvSpPr>
        <p:spPr>
          <a:xfrm>
            <a:off x="8348472" y="2935224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5" name="OpenStreetMap walls heading"/>
          <p:cNvSpPr/>
          <p:nvPr/>
        </p:nvSpPr>
        <p:spPr>
          <a:xfrm>
            <a:off x="8878824" y="29352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OpenStreetMap walls scale"/>
          <p:cNvSpPr/>
          <p:nvPr/>
        </p:nvSpPr>
        <p:spPr>
          <a:xfrm>
            <a:off x="9409176" y="2935224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7" name="OpenStreetMap walls east"/>
          <p:cNvSpPr/>
          <p:nvPr/>
        </p:nvSpPr>
        <p:spPr>
          <a:xfrm>
            <a:off x="9939528" y="29352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8" name="OpenStreetMap walls north"/>
          <p:cNvSpPr/>
          <p:nvPr/>
        </p:nvSpPr>
        <p:spPr>
          <a:xfrm>
            <a:off x="10469880" y="29352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9" name="OpenStreetMap walls height"/>
          <p:cNvSpPr/>
          <p:nvPr/>
        </p:nvSpPr>
        <p:spPr>
          <a:xfrm>
            <a:off x="11000232" y="2935224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580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Lidar roof edges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3337560" y="34564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facade's top meets the lidar roof just inside it, ± 3 m</a:t>
            </a:r>
            <a:endParaRPr lang="en-US" sz="1300" dirty="0"/>
          </a:p>
        </p:txBody>
      </p:sp>
      <p:sp>
        <p:nvSpPr>
          <p:cNvPr id="42" name="Lidar roof edges tilt"/>
          <p:cNvSpPr/>
          <p:nvPr/>
        </p:nvSpPr>
        <p:spPr>
          <a:xfrm>
            <a:off x="7818120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3" name="Lidar roof edges tilt"/>
          <p:cNvSpPr/>
          <p:nvPr/>
        </p:nvSpPr>
        <p:spPr>
          <a:xfrm>
            <a:off x="8348472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4" name="Lidar roof edges heading"/>
          <p:cNvSpPr/>
          <p:nvPr/>
        </p:nvSpPr>
        <p:spPr>
          <a:xfrm>
            <a:off x="8878824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5" name="Lidar roof edges scale"/>
          <p:cNvSpPr/>
          <p:nvPr/>
        </p:nvSpPr>
        <p:spPr>
          <a:xfrm>
            <a:off x="9409176" y="353872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6" name="Lidar roof edges east"/>
          <p:cNvSpPr/>
          <p:nvPr/>
        </p:nvSpPr>
        <p:spPr>
          <a:xfrm>
            <a:off x="9939528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7" name="Lidar roof edges north"/>
          <p:cNvSpPr/>
          <p:nvPr/>
        </p:nvSpPr>
        <p:spPr>
          <a:xfrm>
            <a:off x="10469880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8" name="Lidar roof edges height"/>
          <p:cNvSpPr/>
          <p:nvPr/>
        </p:nvSpPr>
        <p:spPr>
          <a:xfrm>
            <a:off x="11000232" y="3538728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9" name="row band 5"/>
          <p:cNvSpPr/>
          <p:nvPr/>
        </p:nvSpPr>
        <p:spPr>
          <a:xfrm>
            <a:off x="548640" y="3986784"/>
            <a:ext cx="11091672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5800" y="4059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Parallel walls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3337560" y="40599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their spacing is known in metres</a:t>
            </a:r>
            <a:endParaRPr lang="en-US" sz="1300" dirty="0"/>
          </a:p>
        </p:txBody>
      </p:sp>
      <p:sp>
        <p:nvSpPr>
          <p:cNvPr id="52" name="Parallel walls tilt"/>
          <p:cNvSpPr/>
          <p:nvPr/>
        </p:nvSpPr>
        <p:spPr>
          <a:xfrm>
            <a:off x="7818120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3" name="Parallel walls tilt"/>
          <p:cNvSpPr/>
          <p:nvPr/>
        </p:nvSpPr>
        <p:spPr>
          <a:xfrm>
            <a:off x="8348472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4" name="Parallel walls heading"/>
          <p:cNvSpPr/>
          <p:nvPr/>
        </p:nvSpPr>
        <p:spPr>
          <a:xfrm>
            <a:off x="8878824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5" name="Parallel walls scale"/>
          <p:cNvSpPr/>
          <p:nvPr/>
        </p:nvSpPr>
        <p:spPr>
          <a:xfrm>
            <a:off x="9409176" y="414223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6" name="Parallel walls east"/>
          <p:cNvSpPr/>
          <p:nvPr/>
        </p:nvSpPr>
        <p:spPr>
          <a:xfrm>
            <a:off x="9939528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7" name="Parallel walls north"/>
          <p:cNvSpPr/>
          <p:nvPr/>
        </p:nvSpPr>
        <p:spPr>
          <a:xfrm>
            <a:off x="10469880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8" name="Parallel walls height"/>
          <p:cNvSpPr/>
          <p:nvPr/>
        </p:nvSpPr>
        <p:spPr>
          <a:xfrm>
            <a:off x="11000232" y="4142232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858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McGraw Tower top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3337560" y="4663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tower's axis on its footprint, its top at the lidar top</a:t>
            </a:r>
            <a:endParaRPr lang="en-US" sz="1300" dirty="0"/>
          </a:p>
        </p:txBody>
      </p:sp>
      <p:sp>
        <p:nvSpPr>
          <p:cNvPr id="61" name="McGraw Tower top tilt"/>
          <p:cNvSpPr/>
          <p:nvPr/>
        </p:nvSpPr>
        <p:spPr>
          <a:xfrm>
            <a:off x="7818120" y="474573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2" name="McGraw Tower top tilt"/>
          <p:cNvSpPr/>
          <p:nvPr/>
        </p:nvSpPr>
        <p:spPr>
          <a:xfrm>
            <a:off x="8348472" y="474573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3" name="McGraw Tower top heading"/>
          <p:cNvSpPr/>
          <p:nvPr/>
        </p:nvSpPr>
        <p:spPr>
          <a:xfrm>
            <a:off x="8878824" y="474573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4" name="McGraw Tower top scale"/>
          <p:cNvSpPr/>
          <p:nvPr/>
        </p:nvSpPr>
        <p:spPr>
          <a:xfrm>
            <a:off x="9409176" y="47457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5" name="McGraw Tower top east"/>
          <p:cNvSpPr/>
          <p:nvPr/>
        </p:nvSpPr>
        <p:spPr>
          <a:xfrm>
            <a:off x="9939528" y="47457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6" name="McGraw Tower top north"/>
          <p:cNvSpPr/>
          <p:nvPr/>
        </p:nvSpPr>
        <p:spPr>
          <a:xfrm>
            <a:off x="10469880" y="47457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7" name="McGraw Tower top height"/>
          <p:cNvSpPr/>
          <p:nvPr/>
        </p:nvSpPr>
        <p:spPr>
          <a:xfrm>
            <a:off x="11000232" y="4745736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8" name="row band 7"/>
          <p:cNvSpPr/>
          <p:nvPr/>
        </p:nvSpPr>
        <p:spPr>
          <a:xfrm>
            <a:off x="548640" y="5193792"/>
            <a:ext cx="11091672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85800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space</a:t>
            </a:r>
            <a:endParaRPr lang="en-US" sz="1600" dirty="0"/>
          </a:p>
        </p:txBody>
      </p:sp>
      <p:sp>
        <p:nvSpPr>
          <p:cNvPr id="70" name="Text 67"/>
          <p:cNvSpPr txBox="1"/>
          <p:nvPr/>
        </p:nvSpPr>
        <p:spPr>
          <a:xfrm>
            <a:off x="3337560" y="52669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32 samples per camera-to-point ray, none inside a building (after Kaminsky 2009)</a:t>
            </a:r>
            <a:endParaRPr lang="en-US" sz="1300" dirty="0"/>
          </a:p>
        </p:txBody>
      </p:sp>
      <p:sp>
        <p:nvSpPr>
          <p:cNvPr id="71" name="Free space tilt"/>
          <p:cNvSpPr/>
          <p:nvPr/>
        </p:nvSpPr>
        <p:spPr>
          <a:xfrm>
            <a:off x="7818120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2" name="Free space tilt"/>
          <p:cNvSpPr/>
          <p:nvPr/>
        </p:nvSpPr>
        <p:spPr>
          <a:xfrm>
            <a:off x="8348472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3" name="Free space heading"/>
          <p:cNvSpPr/>
          <p:nvPr/>
        </p:nvSpPr>
        <p:spPr>
          <a:xfrm>
            <a:off x="8878824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4" name="Free space scale"/>
          <p:cNvSpPr/>
          <p:nvPr/>
        </p:nvSpPr>
        <p:spPr>
          <a:xfrm>
            <a:off x="9409176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5" name="Free space east"/>
          <p:cNvSpPr/>
          <p:nvPr/>
        </p:nvSpPr>
        <p:spPr>
          <a:xfrm>
            <a:off x="9939528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6" name="Free space north"/>
          <p:cNvSpPr/>
          <p:nvPr/>
        </p:nvSpPr>
        <p:spPr>
          <a:xfrm>
            <a:off x="10469880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7" name="Free space height"/>
          <p:cNvSpPr/>
          <p:nvPr/>
        </p:nvSpPr>
        <p:spPr>
          <a:xfrm>
            <a:off x="11000232" y="5349240"/>
            <a:ext cx="292608" cy="29260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Filled: the cue fixes that number. Free space fixes none on its own; it rules out placements that put a line of sight through a building. The objective is the weighted sum of the bounded cue scores: walls 1 · roof edges 0.5 · camera height 0.3 · landmark 1 · free space 0.5 · outside 0.5.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the search keeps everything it looks at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28016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0876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Vertical first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the facade normals; a fragment with one facade falls back to the cameras' own up, and the certificate records which rule was used</a:t>
            </a:r>
            <a:endParaRPr lang="en-US" sz="1300" dirty="0"/>
          </a:p>
        </p:txBody>
      </p:sp>
      <p:sp>
        <p:nvSpPr>
          <p:cNvPr id="9" name="step 2"/>
          <p:cNvSpPr/>
          <p:nvPr/>
        </p:nvSpPr>
        <p:spPr>
          <a:xfrm>
            <a:off x="4337304" y="128016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4565904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0264" y="150876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Landmark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103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pins the position: when the photographs name a tower and the model holds a tower-like cluster, its axis goes onto the footprint centre; the walls then decide the heading, the top the scale</a:t>
            </a:r>
            <a:endParaRPr lang="en-US" sz="1300" dirty="0"/>
          </a:p>
        </p:txBody>
      </p:sp>
      <p:sp>
        <p:nvSpPr>
          <p:cNvPr id="14" name="step 3"/>
          <p:cNvSpPr/>
          <p:nvPr/>
        </p:nvSpPr>
        <p:spPr>
          <a:xfrm>
            <a:off x="8125968" y="128016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3"/>
          <p:cNvSpPr/>
          <p:nvPr/>
        </p:nvSpPr>
        <p:spPr>
          <a:xfrm>
            <a:off x="8354568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48928" y="150876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Grid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103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heading every 3°, scale from a third to three times a prior from the facade's height; in each cell the position descends along the wall distance field</a:t>
            </a:r>
            <a:endParaRPr lang="en-US" sz="1300" dirty="0"/>
          </a:p>
        </p:txBody>
      </p:sp>
      <p:sp>
        <p:nvSpPr>
          <p:cNvPr id="19" name="step 4"/>
          <p:cNvSpPr/>
          <p:nvPr/>
        </p:nvSpPr>
        <p:spPr>
          <a:xfrm>
            <a:off x="548640" y="374904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4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397764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Refine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720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best cells, at least 5° apart, refined jointly with an explicit simplex; then a 0.5° heading scan around the winner</a:t>
            </a:r>
            <a:endParaRPr lang="en-US" sz="1300" dirty="0"/>
          </a:p>
        </p:txBody>
      </p:sp>
      <p:sp>
        <p:nvSpPr>
          <p:cNvPr id="24" name="step 5"/>
          <p:cNvSpPr/>
          <p:nvPr/>
        </p:nvSpPr>
        <p:spPr>
          <a:xfrm>
            <a:off x="4337304" y="374904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5"/>
          <p:cNvSpPr/>
          <p:nvPr/>
        </p:nvSpPr>
        <p:spPr>
          <a:xfrm>
            <a:off x="4565904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160264" y="397764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Level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720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robust plane through the well-observed photographers' heights proposes the remaining tilt; fits turned by ⅓, ⅔ and all of it compete with the facade vertical on the joint objective</a:t>
            </a:r>
            <a:endParaRPr lang="en-US" sz="1300" dirty="0"/>
          </a:p>
        </p:txBody>
      </p:sp>
      <p:sp>
        <p:nvSpPr>
          <p:cNvPr id="29" name="step 6"/>
          <p:cNvSpPr/>
          <p:nvPr/>
        </p:nvSpPr>
        <p:spPr>
          <a:xfrm>
            <a:off x="8125968" y="3749040"/>
            <a:ext cx="351434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ber 6"/>
          <p:cNvSpPr/>
          <p:nvPr/>
        </p:nvSpPr>
        <p:spPr>
          <a:xfrm>
            <a:off x="8354568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948928" y="397764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Keep every score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720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cue's score is stored per cell, so the profile of any cue subset over scale or heading is read off afterwards, without a second search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output of the search is not one similarity but the objective over the whole grid; the certificate is read from that.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the certificate</a:t>
            </a:r>
            <a:endParaRPr lang="en-US" sz="3200" dirty="0"/>
          </a:p>
        </p:txBody>
      </p:sp>
      <p:sp>
        <p:nvSpPr>
          <p:cNvPr id="4" name="item 1"/>
          <p:cNvSpPr/>
          <p:nvPr/>
        </p:nvSpPr>
        <p:spPr>
          <a:xfrm>
            <a:off x="548640" y="135331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Bands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280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how far each number can move before the objective drops by 10 % of its range</a:t>
            </a:r>
            <a:endParaRPr lang="en-US" sz="1200" dirty="0"/>
          </a:p>
        </p:txBody>
      </p:sp>
      <p:sp>
        <p:nvSpPr>
          <p:cNvPr id="7" name="item 2"/>
          <p:cNvSpPr/>
          <p:nvPr/>
        </p:nvSpPr>
        <p:spPr>
          <a:xfrm>
            <a:off x="548640" y="215798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08483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Runner-up heading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0848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best heading more than 20° away must score under 80 % of the winner</a:t>
            </a:r>
            <a:endParaRPr lang="en-US" sz="1200" dirty="0"/>
          </a:p>
        </p:txBody>
      </p:sp>
      <p:sp>
        <p:nvSpPr>
          <p:cNvPr id="10" name="item 3"/>
          <p:cNvSpPr/>
          <p:nvPr/>
        </p:nvSpPr>
        <p:spPr>
          <a:xfrm>
            <a:off x="548640" y="296265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8895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Ablation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8895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cue removed in turn and the fit repeated: how far the optimum moves</a:t>
            </a:r>
            <a:endParaRPr lang="en-US" sz="1200" dirty="0"/>
          </a:p>
        </p:txBody>
      </p:sp>
      <p:sp>
        <p:nvSpPr>
          <p:cNvPr id="13" name="item 4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69417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Cue profiles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69417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walls alone, the roof edges and the tower each imply a scale; more than 25 % apart is "cues disagree"</a:t>
            </a:r>
            <a:endParaRPr lang="en-US" sz="1200" dirty="0"/>
          </a:p>
        </p:txBody>
      </p:sp>
      <p:sp>
        <p:nvSpPr>
          <p:cNvPr id="16" name="item 5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Structural rules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44988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roof-edge score under 0.25 with no landmark: no facade was seen; more than 10 % of the photographers inside a building: refused</a:t>
            </a:r>
            <a:endParaRPr lang="en-US" sz="1200" dirty="0"/>
          </a:p>
        </p:txBody>
      </p:sp>
      <p:sp>
        <p:nvSpPr>
          <p:cNvPr id="19" name="item 6"/>
          <p:cNvSpPr/>
          <p:nvPr/>
        </p:nvSpPr>
        <p:spPr>
          <a:xfrm>
            <a:off x="548640" y="53766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303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Verdict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5303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usable, or a named failure mode, with the scale uncertainty the fixing cue implies</a:t>
            </a:r>
            <a:endParaRPr lang="en-US" sz="1200" dirty="0"/>
          </a:p>
        </p:txBody>
      </p:sp>
      <p:pic>
        <p:nvPicPr>
          <p:cNvPr id="22" name="The fragment placed in the lidar campus" descr="The fragment placed in the lidar cam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2369" y="1280160"/>
            <a:ext cx="3987943" cy="2514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652369" y="3849624"/>
            <a:ext cx="3987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 metres among the lidar buildings (live demo, chapter 2).</a:t>
            </a:r>
            <a:endParaRPr lang="en-US" sz="1100" dirty="0"/>
          </a:p>
        </p:txBody>
      </p:sp>
      <p:sp>
        <p:nvSpPr>
          <p:cNvPr id="24" name="verdict"/>
          <p:cNvSpPr/>
          <p:nvPr/>
        </p:nvSpPr>
        <p:spPr>
          <a:xfrm>
            <a:off x="6675120" y="4206240"/>
            <a:ext cx="29260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7512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certificate: usable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67512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±3.9 %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8138160" y="4709160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scale, fixed 3 independent ways: tower top, parallel walls, roof edges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675120" y="5129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72 %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8138160" y="512978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best other heading's score against the winner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675120" y="5550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3.7°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8138160" y="5550408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levelled by the photographers' heights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675120" y="5971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0" y="5971032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COLMAP's points within 2.5 m of a lidar surface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certificate's numbers, explained</a:t>
            </a:r>
            <a:endParaRPr lang="en-US" sz="3200" dirty="0"/>
          </a:p>
        </p:txBody>
      </p:sp>
      <p:graphicFrame>
        <p:nvGraphicFramePr>
          <p:cNvPr id="12" name="certificate 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2743200"/>
                <a:gridCol w="2862072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What it measures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The rule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Why it matters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±3.9 %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the tower top fixes the scale to about 2 m over the tower's height; the walls alone and the roof edges of 4 walls land inside that band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scale fixed by at least one cue, and the cues that measure it must agree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three independent measurements give the same 17.8 m per COLMAP 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72 %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the best heading more than 20° away scores this much of the winner (the quadrants: 12 %, 4 %, 68 %)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under 80 %, or the heading is ambiguous; a square tower alone gives about 95 %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the heading is unique, not one of four look-alike faces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3.7°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the facade vertical was tilted; the photographers' heights over the lidar ground proposed 5.5°, and two thirds of it won on the joint objective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camera height corrects tilt only as far as the other cues agree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18 of 88 photographers end at eye height; the rest are far away and poorly placed along their rays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83 %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of COLMAP's own points within 2.5 m of a lidar surface; 43 % within 1 m of a footprint wall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a structural check, not a fit term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the noise floor every splat is later compared with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 · 0.85 · 0.25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cue scores at the optimum: tower 1.00, free space 0.85, cameras outside 0.97, roof edges 0.42, walls 0.25, camera height 0.12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each bounded 0 to 1 with a stated noise 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who did the work: the tower, confirmed by the walls and the roof edges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scale is read: every cue's own profile</a:t>
            </a:r>
            <a:endParaRPr lang="en-US" sz="3200" dirty="0"/>
          </a:p>
        </p:txBody>
      </p:sp>
      <p:graphicFrame>
        <p:nvGraphicFramePr>
          <p:cNvPr id="4" name="scale profiles" descr=""/>
          <p:cNvGraphicFramePr/>
          <p:nvPr/>
        </p:nvGraphicFramePr>
        <p:xfrm>
          <a:off x="548640" y="12801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Every cue that measures scale peaks at the same place, 17.8 m per unit; the certificate reads "fixed three independent ways" off these curves.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7635240" y="128016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Take one cue away and refit</a:t>
            </a:r>
            <a:endParaRPr lang="en-US" sz="1600" dirty="0"/>
          </a:p>
        </p:txBody>
      </p:sp>
      <p:graphicFrame>
        <p:nvGraphicFramePr>
          <p:cNvPr id="13" name="cue abl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737360"/>
          <a:ext cx="40050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96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without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heading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scale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walls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0.03°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×1.000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0.05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roof edges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0.16°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×0.999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0.30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camera height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×1.000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tower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0.73°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×0.977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0.98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free space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×1.000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cameras outside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×1.000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0.00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635240" y="4572000"/>
            <a:ext cx="4005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Removing the tower moves the optimum 1.0 m and 0.7°; removing any other cue moves it under 0.3 m. The tower does the work; the walls and the roof edges confirm it, and the certificate says 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snap</a:t>
            </a:r>
            <a:endParaRPr lang="en-US" sz="3200" dirty="0"/>
          </a:p>
        </p:txBody>
      </p:sp>
      <p:pic>
        <p:nvPicPr>
          <p:cNvPr id="3" name="The fragment snapping into the lidar campu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71600" y="1234440"/>
            <a:ext cx="9445752" cy="53126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Recorded from the demo page (chapter 2): the fragment in COLMAP's frame, then the placement applied; it lands among the lidar buildings and the certificate appears. Click to play; the live demo does the same.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refuses, and why</a:t>
            </a:r>
            <a:endParaRPr lang="en-US" sz="3200" dirty="0"/>
          </a:p>
        </p:txBody>
      </p:sp>
      <p:graphicFrame>
        <p:nvGraphicFramePr>
          <p:cNvPr id="15" name="campus fragme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32004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Fragment (named by its photographs)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Photos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Certificate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Checked by GPS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Uris Library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54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no facade seen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no usable GPS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Morrill Hall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cameras inside buildings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845 m off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McGraw Tower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cues disagree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no usable GPS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Goldwin Smith Hall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scale undetermined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no usable GPS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McGraw Tower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cameras inside buildings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no usable GPS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Olive Tjaden Hall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scale undetermined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64 m off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Gates Hall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refused: scale undetermined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325 m off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whole campus collection reconstructed at once: 339 photographs, 29 fragments; the 7 with eight or more cameras are listed.</a:t>
            </a:r>
            <a:endParaRPr lang="en-US" sz="1100" dirty="0"/>
          </a:p>
        </p:txBody>
      </p:sp>
      <p:sp>
        <p:nvSpPr>
          <p:cNvPr id="6" name="callout"/>
          <p:cNvSpPr/>
          <p:nvPr/>
        </p:nvSpPr>
        <p:spPr>
          <a:xfrm>
            <a:off x="548640" y="4983480"/>
            <a:ext cx="73152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74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3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265176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placements GPS could check were 64 m to 845 m off, and all were refused: none certified and then found wrong.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183880" y="1280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Why: geometry, on a synthetic hall with a known answer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1920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facade</a:t>
            </a:r>
            <a:endParaRPr lang="en-US" sz="1400" dirty="0"/>
          </a:p>
        </p:txBody>
      </p:sp>
      <p:sp>
        <p:nvSpPr>
          <p:cNvPr id="11" name="One facade tilt"/>
          <p:cNvSpPr/>
          <p:nvPr/>
        </p:nvSpPr>
        <p:spPr>
          <a:xfrm>
            <a:off x="8183880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One facade tilt"/>
          <p:cNvSpPr/>
          <p:nvPr/>
        </p:nvSpPr>
        <p:spPr>
          <a:xfrm>
            <a:off x="8513064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One facade heading"/>
          <p:cNvSpPr/>
          <p:nvPr/>
        </p:nvSpPr>
        <p:spPr>
          <a:xfrm>
            <a:off x="8842248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One facade scale"/>
          <p:cNvSpPr/>
          <p:nvPr/>
        </p:nvSpPr>
        <p:spPr>
          <a:xfrm>
            <a:off x="9171432" y="2221992"/>
            <a:ext cx="219456" cy="219456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One facade east"/>
          <p:cNvSpPr/>
          <p:nvPr/>
        </p:nvSpPr>
        <p:spPr>
          <a:xfrm>
            <a:off x="9500616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One facade north"/>
          <p:cNvSpPr/>
          <p:nvPr/>
        </p:nvSpPr>
        <p:spPr>
          <a:xfrm>
            <a:off x="9829800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One facade height"/>
          <p:cNvSpPr/>
          <p:nvPr/>
        </p:nvSpPr>
        <p:spPr>
          <a:xfrm>
            <a:off x="10158984" y="222199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183880" y="24688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scale undetermined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183880" y="2715768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scale ×0.970 · heading 2.0° off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183880" y="2971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 parallel facades</a:t>
            </a:r>
            <a:endParaRPr lang="en-US" sz="1400" dirty="0"/>
          </a:p>
        </p:txBody>
      </p:sp>
      <p:sp>
        <p:nvSpPr>
          <p:cNvPr id="21" name="Two parallel facades tilt"/>
          <p:cNvSpPr/>
          <p:nvPr/>
        </p:nvSpPr>
        <p:spPr>
          <a:xfrm>
            <a:off x="8183880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wo parallel facades tilt"/>
          <p:cNvSpPr/>
          <p:nvPr/>
        </p:nvSpPr>
        <p:spPr>
          <a:xfrm>
            <a:off x="8513064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3" name="Two parallel facades heading"/>
          <p:cNvSpPr/>
          <p:nvPr/>
        </p:nvSpPr>
        <p:spPr>
          <a:xfrm>
            <a:off x="8842248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Two parallel facades scale"/>
          <p:cNvSpPr/>
          <p:nvPr/>
        </p:nvSpPr>
        <p:spPr>
          <a:xfrm>
            <a:off x="9171432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wo parallel facades east"/>
          <p:cNvSpPr/>
          <p:nvPr/>
        </p:nvSpPr>
        <p:spPr>
          <a:xfrm>
            <a:off x="9500616" y="3273552"/>
            <a:ext cx="219456" cy="219456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Two parallel facades north"/>
          <p:cNvSpPr/>
          <p:nvPr/>
        </p:nvSpPr>
        <p:spPr>
          <a:xfrm>
            <a:off x="9829800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7" name="Two parallel facades height"/>
          <p:cNvSpPr/>
          <p:nvPr/>
        </p:nvSpPr>
        <p:spPr>
          <a:xfrm>
            <a:off x="10158984" y="327355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183880" y="35204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position undetermined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183880" y="3767328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scale ×0.999 · heading 2.2° off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40233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corner</a:t>
            </a:r>
            <a:endParaRPr lang="en-US" sz="1400" dirty="0"/>
          </a:p>
        </p:txBody>
      </p:sp>
      <p:sp>
        <p:nvSpPr>
          <p:cNvPr id="31" name="A corner tilt"/>
          <p:cNvSpPr/>
          <p:nvPr/>
        </p:nvSpPr>
        <p:spPr>
          <a:xfrm>
            <a:off x="8183880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A corner tilt"/>
          <p:cNvSpPr/>
          <p:nvPr/>
        </p:nvSpPr>
        <p:spPr>
          <a:xfrm>
            <a:off x="8513064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A corner heading"/>
          <p:cNvSpPr/>
          <p:nvPr/>
        </p:nvSpPr>
        <p:spPr>
          <a:xfrm>
            <a:off x="8842248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A corner scale"/>
          <p:cNvSpPr/>
          <p:nvPr/>
        </p:nvSpPr>
        <p:spPr>
          <a:xfrm>
            <a:off x="9171432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A corner east"/>
          <p:cNvSpPr/>
          <p:nvPr/>
        </p:nvSpPr>
        <p:spPr>
          <a:xfrm>
            <a:off x="9500616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6" name="A corner north"/>
          <p:cNvSpPr/>
          <p:nvPr/>
        </p:nvSpPr>
        <p:spPr>
          <a:xfrm>
            <a:off x="9829800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A corner height"/>
          <p:cNvSpPr/>
          <p:nvPr/>
        </p:nvSpPr>
        <p:spPr>
          <a:xfrm>
            <a:off x="10158984" y="432511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183880" y="45720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usable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8183880" y="4818888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scale ×0.993 · heading 0.12° off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8183880" y="50749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facades</a:t>
            </a:r>
            <a:endParaRPr lang="en-US" sz="1400" dirty="0"/>
          </a:p>
        </p:txBody>
      </p:sp>
      <p:sp>
        <p:nvSpPr>
          <p:cNvPr id="41" name="Three facades tilt"/>
          <p:cNvSpPr/>
          <p:nvPr/>
        </p:nvSpPr>
        <p:spPr>
          <a:xfrm>
            <a:off x="8183880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2" name="Three facades tilt"/>
          <p:cNvSpPr/>
          <p:nvPr/>
        </p:nvSpPr>
        <p:spPr>
          <a:xfrm>
            <a:off x="8513064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3" name="Three facades heading"/>
          <p:cNvSpPr/>
          <p:nvPr/>
        </p:nvSpPr>
        <p:spPr>
          <a:xfrm>
            <a:off x="8842248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4" name="Three facades scale"/>
          <p:cNvSpPr/>
          <p:nvPr/>
        </p:nvSpPr>
        <p:spPr>
          <a:xfrm>
            <a:off x="9171432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5" name="Three facades east"/>
          <p:cNvSpPr/>
          <p:nvPr/>
        </p:nvSpPr>
        <p:spPr>
          <a:xfrm>
            <a:off x="9500616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6" name="Three facades north"/>
          <p:cNvSpPr/>
          <p:nvPr/>
        </p:nvSpPr>
        <p:spPr>
          <a:xfrm>
            <a:off x="9829800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7" name="Three facades height"/>
          <p:cNvSpPr/>
          <p:nvPr/>
        </p:nvSpPr>
        <p:spPr>
          <a:xfrm>
            <a:off x="10158984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183880" y="562356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usable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8183880" y="5870448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scale ×1.003 · heading 0.10° off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8183880" y="6144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red = not fixed · layouts: backup slide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synthetic hall, all sixteen cases</a:t>
            </a:r>
            <a:endParaRPr lang="en-US" sz="3200" dirty="0"/>
          </a:p>
        </p:txBody>
      </p:sp>
      <p:graphicFrame>
        <p:nvGraphicFramePr>
          <p:cNvPr id="4" name="synthetic sweep" descr=""/>
          <p:cNvGraphicFramePr/>
          <p:nvPr/>
        </p:nvGraphicFramePr>
        <p:xfrm>
          <a:off x="548640" y="1280160"/>
          <a:ext cx="6949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sweep verdic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32588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one facade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two parallel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 corner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three facades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exact roof edges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scale undetermined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position undetermined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7D4F"/>
                          </a:solidFill>
                        </a:rPr>
                        <a:t>usable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7D4F"/>
                          </a:solidFill>
                        </a:rPr>
                        <a:t>usable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 m roof-edge error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scale undetermined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cues disagree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7D4F"/>
                          </a:solidFill>
                        </a:rPr>
                        <a:t>usable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cues disagree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128016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With exact roof edges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7772400" y="1627632"/>
            <a:ext cx="3867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placement is within 3 % in scale (the one-facade case is refused anyway: nothing in it fixes the scale) and the verdicts are right.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7772400" y="288036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With a 3 m roof-edge error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772400" y="3227832"/>
            <a:ext cx="3867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corner comes out 23 % too large and is still certified usable: nothing else in a corner fragment measures scale, so the certificate cannot see it. Where the walls do measure scale (parallel walls, three facades) the same error is caught as "cues disagree".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7772400" y="448056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4828032"/>
            <a:ext cx="3867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certificate's known hole is a map error it has no second opinion on; measuring that false-acceptance rate is on the plan.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building through two fragments</a:t>
            </a:r>
            <a:endParaRPr lang="en-US" sz="3200" dirty="0"/>
          </a:p>
        </p:txBody>
      </p:sp>
      <p:graphicFrame>
        <p:nvGraphicFramePr>
          <p:cNvPr id="17" name="cross-fragment agre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743200"/>
                <a:gridCol w="1581912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Building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Fragment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against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Verdicts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90th pct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54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29"/>
                          </a:solidFill>
                        </a:rPr>
                        <a:t>0.6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1.5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54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22.6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37.3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Tower, 27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29"/>
                          </a:solidFill>
                        </a:rPr>
                        <a:t>1.1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1.7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Tower, 27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29"/>
                          </a:solidFill>
                        </a:rPr>
                        <a:t>1.5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6.4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Tower, 22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29"/>
                          </a:solidFill>
                        </a:rPr>
                        <a:t>1.2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2.7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Uris Library, 88 photos (certified)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McGraw Tower, 22 photos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7A10"/>
                          </a:solidFill>
                        </a:rPr>
                        <a:t>usable / not usable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372F"/>
                          </a:solidFill>
                        </a:rPr>
                        <a:t>12.9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27.2 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ading"/>
          <p:cNvSpPr/>
          <p:nvPr/>
        </p:nvSpPr>
        <p:spPr>
          <a:xfrm>
            <a:off x="548640" y="3767328"/>
            <a:ext cx="1109167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3904488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check that needs no ground truth.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building reconstructed in two fragments, each placed on its own: McGraw Tower agrees within 1.2 m against every campus fragment (the landmark pins it); Uris Library is 2–23 m apart where the campus fragment's heading was refused. Refused frames disagree by tens of metres; nothing certified disagrees.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· a photograph it has never seen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234440"/>
            <a:ext cx="207203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98448"/>
            <a:ext cx="1797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· Retrieve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609344"/>
            <a:ext cx="179771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NetVLAD: the 10 most similar of the 88</a:t>
            </a:r>
            <a:endParaRPr lang="en-US" sz="1100" dirty="0"/>
          </a:p>
        </p:txBody>
      </p:sp>
      <p:sp>
        <p:nvSpPr>
          <p:cNvPr id="7" name="step 2"/>
          <p:cNvSpPr/>
          <p:nvPr/>
        </p:nvSpPr>
        <p:spPr>
          <a:xfrm>
            <a:off x="2803550" y="1234440"/>
            <a:ext cx="207203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40710" y="1298448"/>
            <a:ext cx="1797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· Match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40710" y="1609344"/>
            <a:ext cx="179771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SuperPoint (4,096 keypoints at 1,200 px) + LightGlue</a:t>
            </a:r>
            <a:endParaRPr lang="en-US" sz="1100" dirty="0"/>
          </a:p>
        </p:txBody>
      </p:sp>
      <p:sp>
        <p:nvSpPr>
          <p:cNvPr id="10" name="step 3"/>
          <p:cNvSpPr/>
          <p:nvPr/>
        </p:nvSpPr>
        <p:spPr>
          <a:xfrm>
            <a:off x="5058461" y="1234440"/>
            <a:ext cx="207203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95621" y="1298448"/>
            <a:ext cx="1797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· Pose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95621" y="1609344"/>
            <a:ext cx="179771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pycolmap RANSAC (12 px) from the EXIF focal length and 4 guesses, then refined with the focal free; most inliers wins, at least 40</a:t>
            </a:r>
            <a:endParaRPr lang="en-US" sz="1100" dirty="0"/>
          </a:p>
        </p:txBody>
      </p:sp>
      <p:sp>
        <p:nvSpPr>
          <p:cNvPr id="13" name="step 4"/>
          <p:cNvSpPr/>
          <p:nvPr/>
        </p:nvSpPr>
        <p:spPr>
          <a:xfrm>
            <a:off x="7313371" y="1234440"/>
            <a:ext cx="207203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0531" y="1298448"/>
            <a:ext cx="1797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· Distance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50531" y="1609344"/>
            <a:ext cx="179771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poses from the other guesses keeping 70 % of the inliers form a segment; longer than 25 m: the distance stays open</a:t>
            </a:r>
            <a:endParaRPr lang="en-US" sz="1100" dirty="0"/>
          </a:p>
        </p:txBody>
      </p:sp>
      <p:sp>
        <p:nvSpPr>
          <p:cNvPr id="16" name="step 5"/>
          <p:cNvSpPr/>
          <p:nvPr/>
        </p:nvSpPr>
        <p:spPr>
          <a:xfrm>
            <a:off x="9568282" y="1234440"/>
            <a:ext cx="207203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05442" y="1298448"/>
            <a:ext cx="1797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· Paint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05442" y="1609344"/>
            <a:ext cx="179771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photograph projected onto the lidar city from that pose, with a depth test</a:t>
            </a:r>
            <a:endParaRPr lang="en-US" sz="1100" dirty="0"/>
          </a:p>
        </p:txBody>
      </p:sp>
      <p:pic>
        <p:nvPicPr>
          <p:cNvPr id="19" name="The photograph painted onto the lidar city from where it was placed" descr="The photograph painted onto the lidar city from where it was plac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3697911" cy="2331720"/>
          </a:xfrm>
          <a:prstGeom prst="rect">
            <a:avLst/>
          </a:prstGeom>
        </p:spPr>
      </p:pic>
      <p:pic>
        <p:nvPicPr>
          <p:cNvPr id="20" name="The same spot without the photograph" descr="The same spot without the photograp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606040"/>
            <a:ext cx="3697911" cy="23317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" y="4992624"/>
            <a:ext cx="543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From where it was placed: the photograph painted onto the lidar city (inside the white frame).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208776" y="4992624"/>
            <a:ext cx="543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same spot, the bare lidar city: the tower is where the photograph says. Photograph: joebeone, CC BY 2.0 (Flickr).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440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Tested by taking each of the 88 photographs out and placing it again (76 with a trustworthy reference pose):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715000"/>
            <a:ext cx="260146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placed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027928"/>
            <a:ext cx="2601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median 0.7 m from the reconstruction's own pose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3378708" y="5715000"/>
            <a:ext cx="260146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distance open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3378708" y="6027928"/>
            <a:ext cx="2601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true spot a median 3.3 m from the stated line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208776" y="5715000"/>
            <a:ext cx="260146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refused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208776" y="6027928"/>
            <a:ext cx="2601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would have been about 115 m wrong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038844" y="5715000"/>
            <a:ext cx="260146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of 120 refused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038844" y="6027928"/>
            <a:ext cx="2601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Mapillary photographs from the Arts Quad side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a photograph, live</a:t>
            </a:r>
            <a:endParaRPr lang="en-US" sz="3200" dirty="0"/>
          </a:p>
        </p:txBody>
      </p:sp>
      <p:pic>
        <p:nvPicPr>
          <p:cNvPr id="3" name="A photograph dropped on the demo page, placed and painted onto the lidar city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71600" y="1234440"/>
            <a:ext cx="9445752" cy="53126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Recorded from the demo page (chapter 11): a photograph from the tray, placed in about two seconds without GPS; the camera moves to where the photographer stood and the photograph is painted onto the city; then all 88 photographs painted back. Click to play; or do it live with your own phone photograph.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by taking each photograph out</a:t>
            </a:r>
            <a:endParaRPr lang="en-US" sz="3200" dirty="0"/>
          </a:p>
        </p:txBody>
      </p:sp>
      <p:graphicFrame>
        <p:nvGraphicFramePr>
          <p:cNvPr id="4" name="leave-one-out verdicts" descr=""/>
          <p:cNvGraphicFramePr/>
          <p:nvPr/>
        </p:nvGraphicFramePr>
        <p:xfrm>
          <a:off x="548640" y="132588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63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Each of the 88 photographs taken out of the reconstruction and placed again from scratch, scored where COLMAP's own pose of it is trustworthy (12 are not: COLMAP had put one 37 km away).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 m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8366760" y="132588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median error of the 53 placed: half of them land within a footstep of where the reconstruction had them; 90th percentile 5.6 m, worst 20 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 m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251460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 the 21 long-lens shots the direction is right and the distance is the open part: the true spot lies this far from the stated line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≈115 m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366760" y="370332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what a wrong acceptance would have cost: the 2 refused would each have been this far off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/ 120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366760" y="489204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street photographs from the Arts Quad side refused as a block: a whole side of the tower nobody online photographed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world frame buys you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lidar as referee and teacher</a:t>
            </a:r>
            <a:endParaRPr lang="en-US" sz="1800" dirty="0"/>
          </a:p>
        </p:txBody>
      </p:sp>
      <p:pic>
        <p:nvPicPr>
          <p:cNvPr id="5" name="Plain and lidar-taught splats from a new viewpoint, painted by the lidar's verdict" descr="Plain and lidar-taught splats from a new viewpoint, painted by the lidar's verdi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20446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809413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view no photographer took; every Gaussian painted by the lidar: red in measured-empty air, purple underground. Plain splat left, lidar-taught right.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26280"/>
            <a:ext cx="1783080" cy="30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41 % → 5 %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519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Gaussians under the bare ground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423160" y="4526280"/>
            <a:ext cx="1783080" cy="30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41 % → 88 %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48519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lidar surfaces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4526280"/>
            <a:ext cx="1783080" cy="30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 → 14.5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48519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dB on held-out photos: no worse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123444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Time, for free</a:t>
            </a:r>
            <a:endParaRPr lang="en-US" sz="1800" dirty="0"/>
          </a:p>
        </p:txBody>
      </p:sp>
      <p:pic>
        <p:nvPicPr>
          <p:cNvPr id="14" name="Gates Hall in the time machine" descr="Gates Hall in the time mach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285232" cy="3332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55080" y="5097398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Gates Hall in the 2016 flight: a parking lot until 2012. 6 aerial flights, 2002–2023, on the same terrain (live demo, chapter 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photographs, rendered by both splats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photograph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06824" y="11887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plain splat, from its placed pose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065008" y="11887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the lidar-taught splat, same pose</a:t>
            </a:r>
            <a:endParaRPr lang="en-US" sz="1300" dirty="0"/>
          </a:p>
        </p:txBody>
      </p:sp>
      <p:pic>
        <p:nvPicPr>
          <p:cNvPr id="7" name="photograph 6333256" descr="photograph 633325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577340" cy="2103120"/>
          </a:xfrm>
          <a:prstGeom prst="rect">
            <a:avLst/>
          </a:prstGeom>
        </p:spPr>
      </p:pic>
      <p:pic>
        <p:nvPicPr>
          <p:cNvPr id="8" name="23.7 dB 6333256" descr="23.7 dB 633325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508760"/>
            <a:ext cx="1577340" cy="2103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969764" y="3291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23.7 dB</a:t>
            </a:r>
            <a:endParaRPr lang="en-US" sz="1200" dirty="0"/>
          </a:p>
        </p:txBody>
      </p:sp>
      <p:pic>
        <p:nvPicPr>
          <p:cNvPr id="10" name="24.1 dB 6333256" descr="24.1 dB 633325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508760"/>
            <a:ext cx="1577340" cy="21031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727948" y="3291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24.1 dB</a:t>
            </a:r>
            <a:endParaRPr lang="en-US" sz="1200" dirty="0"/>
          </a:p>
        </p:txBody>
      </p:sp>
      <p:pic>
        <p:nvPicPr>
          <p:cNvPr id="12" name="photograph 69219260" descr="photograph 6921926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1419828" cy="2103120"/>
          </a:xfrm>
          <a:prstGeom prst="rect">
            <a:avLst/>
          </a:prstGeom>
        </p:spPr>
      </p:pic>
      <p:pic>
        <p:nvPicPr>
          <p:cNvPr id="13" name="22.3 dB 69219260" descr="22.3 dB 6921926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3749040"/>
            <a:ext cx="1419828" cy="21031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4812252" y="5532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22.3 dB</a:t>
            </a:r>
            <a:endParaRPr lang="en-US" sz="1200" dirty="0"/>
          </a:p>
        </p:txBody>
      </p:sp>
      <p:pic>
        <p:nvPicPr>
          <p:cNvPr id="15" name="22.1 dB 69219260" descr="22.1 dB 6921926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3749040"/>
            <a:ext cx="1419828" cy="210312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8570436" y="5532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22.1 dB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Two photographs never used in training, rendered by each splat from the pose the placement gave them; dB is PSNR against the photograph after a per-image colour fit. They look alike: the lidar rule costs no image quality. The difference is where the paint is, which the next clip shows.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the photographers</a:t>
            </a:r>
            <a:endParaRPr lang="en-US" sz="3200" dirty="0"/>
          </a:p>
        </p:txBody>
      </p:sp>
      <p:pic>
        <p:nvPicPr>
          <p:cNvPr id="3" name="The fly-through: plain splat left, lidar-taught right, every Gaussian painted by the lidar verdict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34440"/>
            <a:ext cx="7315200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camera path no photographer took (240 frames between them): left plain, right lidar-taught. Red: paint in air the lidar measured empty; purple: under the bare ground. Click to play; the live demo is chapter 5.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12801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41 % → 88 %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166420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opaque Gaussians inside the measured volume sit on a lidar surface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2267712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41 % → 5 %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65176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under the bare ground: the plain splat buries almost half its paint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3255264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18 % → 8 %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639312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 air the lidar measured empty: floaters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242816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 → 4 %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462686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pixels along this path are paint the lidar refutes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523036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 → 14.5 dB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561441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 held-out photographs (best-covered view 22.4 → 22.5 dB): no worse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754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rule in training: opacity times metres into measured-empty air or under the bare ground; same photographs, same 15,000 steps.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2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Plain → lidar-taught is the same training with one added term; the "verdict" colouring is the referee score, computed for every Gaussian against the lidar rasters.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here, honestly</a:t>
            </a:r>
            <a:endParaRPr lang="en-US" sz="3200" dirty="0"/>
          </a:p>
        </p:txBody>
      </p:sp>
      <p:graphicFrame>
        <p:nvGraphicFramePr>
          <p:cNvPr id="24" name="related wor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764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What differs here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Kaminsky, Snavely, Seitz, Szeliski · CVPR Workshops 2009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SfM to an overhead image: points on its edges, free space; a 2D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lidar heights, explicit metric cues, a diagnosis per number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Wang, Wilson, Snavely · 3DV 2013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georegistration from Flickr geotags and Google Earth models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 geotags; public lidar and OpenStreetMap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Zhang et al. · Remote Sensing 2019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ground SfM to airborne lidar through building outlines, GPS-initialised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 GPS to start from; refusal when the geometry cannot fix a number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Degeneracy-aware registration (Zhang, Kaess, Singh · ICRA 2016; X-ICP · 2023)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which directions a scan-to-map fit leaves undetermined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an SfM fragment of unknown scale, several heading candidates, cues from public maps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Lidar-constrained Gaussian splatting (several, 2024–25)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lidar geometry as a training constraint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 per-Gaussian referee score, from public airborne lidar, in the placed frame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he claim"/>
          <p:cNvSpPr/>
          <p:nvPr/>
        </p:nvSpPr>
        <p:spPr>
          <a:xfrm>
            <a:off x="548640" y="4800600"/>
            <a:ext cx="1109167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8920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claim: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cue-based grounding of sparse internet fragments without any GPS, against public lidar and footprints, with a per-number diagnosis that can refuse. A method-and-system claim.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6235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Not shown yet: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that it beats a fair baseline; that the diagnosis cuts wrong acceptances; a second site.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working on, as the final project</a:t>
            </a:r>
            <a:endParaRPr lang="en-US" sz="3200" dirty="0"/>
          </a:p>
        </p:txBody>
      </p:sp>
      <p:graphicFrame>
        <p:nvGraphicFramePr>
          <p:cNvPr id="25" name="the 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22783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 gap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 work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 hoped end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One certified fragment of 8, no independent truth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my own phone photographs with GPS; held-out geotags that no fit ever reads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placement error measured, not inferred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 fair baseline yet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footprint-only alignment; a Kaminsky-style edge-and-free-space fit; scale-aware point-cloud registration; this method without its diagnosis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the cues and the diagnosis shown to add capability, or shown not to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 certificate is a heuristic: a 3 m roof-edge error passed with the scale 23 % off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acceptance coverage against false acceptances, on the synthetic hall and the real fragments; calibrate the bands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 certificate with a measured false-acceptance rate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One campus; the Arts Quad side blind; splats blurry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more buildings here; a second campus that USGS 3DEP covers; photographs of the tower from the Arts Quad side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reproducible wherever USGS lidar and OpenStreetMap exist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inal project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5413248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From a working pipeline to a tested method: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evaluation above, written up as a workshop paper. A method that places what can be placed and refuses what cannot, measured on two campuses.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COLMAP's frame is arbitrary. The world's isn't.</a:t>
            </a:r>
            <a:endParaRPr lang="en-US" sz="4000" dirty="0"/>
          </a:p>
        </p:txBody>
      </p:sp>
      <p:sp>
        <p:nvSpPr>
          <p:cNvPr id="4" name="point 1"/>
          <p:cNvSpPr/>
          <p:nvPr/>
        </p:nvSpPr>
        <p:spPr>
          <a:xfrm>
            <a:off x="658368" y="3502152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34015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Placed with public lidar and footprints, no GPS</a:t>
            </a:r>
            <a:endParaRPr lang="en-US" sz="1600" dirty="0"/>
          </a:p>
        </p:txBody>
      </p:sp>
      <p:sp>
        <p:nvSpPr>
          <p:cNvPr id="6" name="point 2"/>
          <p:cNvSpPr/>
          <p:nvPr/>
        </p:nvSpPr>
        <p:spPr>
          <a:xfrm>
            <a:off x="658368" y="4005072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390448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Refused, with the reason, when geometry can't fix it</a:t>
            </a:r>
            <a:endParaRPr lang="en-US" sz="1600" dirty="0"/>
          </a:p>
        </p:txBody>
      </p:sp>
      <p:sp>
        <p:nvSpPr>
          <p:cNvPr id="8" name="point 3"/>
          <p:cNvSpPr/>
          <p:nvPr/>
        </p:nvSpPr>
        <p:spPr>
          <a:xfrm>
            <a:off x="658368" y="4507992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4074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New photographs placed in seconds</a:t>
            </a:r>
            <a:endParaRPr lang="en-US" sz="1600" dirty="0"/>
          </a:p>
        </p:txBody>
      </p:sp>
      <p:sp>
        <p:nvSpPr>
          <p:cNvPr id="10" name="all fixed tilt"/>
          <p:cNvSpPr/>
          <p:nvPr/>
        </p:nvSpPr>
        <p:spPr>
          <a:xfrm>
            <a:off x="6858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all fixed tilt"/>
          <p:cNvSpPr/>
          <p:nvPr/>
        </p:nvSpPr>
        <p:spPr>
          <a:xfrm>
            <a:off x="11430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all fixed heading"/>
          <p:cNvSpPr/>
          <p:nvPr/>
        </p:nvSpPr>
        <p:spPr>
          <a:xfrm>
            <a:off x="16002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all fixed scale"/>
          <p:cNvSpPr/>
          <p:nvPr/>
        </p:nvSpPr>
        <p:spPr>
          <a:xfrm>
            <a:off x="20574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ll fixed east"/>
          <p:cNvSpPr/>
          <p:nvPr/>
        </p:nvSpPr>
        <p:spPr>
          <a:xfrm>
            <a:off x="25146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all fixed north"/>
          <p:cNvSpPr/>
          <p:nvPr/>
        </p:nvSpPr>
        <p:spPr>
          <a:xfrm>
            <a:off x="29718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all fixed height"/>
          <p:cNvSpPr/>
          <p:nvPr/>
        </p:nvSpPr>
        <p:spPr>
          <a:xfrm>
            <a:off x="3429000" y="512064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5715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B3"/>
                </a:solidFill>
              </a:rPr>
              <a:t>Questions? The demo stays open.   github.com/BobbyZbp/CS-6672</a:t>
            </a:r>
            <a:endParaRPr lang="en-US" sz="1400" dirty="0"/>
          </a:p>
        </p:txBody>
      </p:sp>
      <p:pic>
        <p:nvPicPr>
          <p:cNvPr id="18" name="The fragment placed in the lidar campus" descr="The fragment placed in the lidar cam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4937760" cy="31135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675120" y="46222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tower-and-library fragment, placed.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· the synthetic hall</a:t>
            </a:r>
            <a:endParaRPr lang="en-US" sz="3200" dirty="0"/>
          </a:p>
        </p:txBody>
      </p:sp>
      <p:sp>
        <p:nvSpPr>
          <p:cNvPr id="4" name="plan One facade"/>
          <p:cNvSpPr/>
          <p:nvPr/>
        </p:nvSpPr>
        <p:spPr>
          <a:xfrm>
            <a:off x="548640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uilding"/>
          <p:cNvSpPr/>
          <p:nvPr/>
        </p:nvSpPr>
        <p:spPr>
          <a:xfrm>
            <a:off x="1188720" y="1691640"/>
            <a:ext cx="1280160" cy="777240"/>
          </a:xfrm>
          <a:prstGeom prst="rect">
            <a:avLst/>
          </a:prstGeom>
          <a:solidFill>
            <a:srgbClr val="C9CFCD"/>
          </a:solidFill>
          <a:ln w="12700">
            <a:solidFill>
              <a:srgbClr val="C9CFCD"/>
            </a:solidFill>
            <a:prstDash val="solid"/>
          </a:ln>
        </p:spPr>
      </p:sp>
      <p:sp>
        <p:nvSpPr>
          <p:cNvPr id="6" name="seen facade"/>
          <p:cNvSpPr/>
          <p:nvPr/>
        </p:nvSpPr>
        <p:spPr>
          <a:xfrm>
            <a:off x="1188720" y="2468880"/>
            <a:ext cx="1280160" cy="91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7" name="camera"/>
          <p:cNvSpPr/>
          <p:nvPr/>
        </p:nvSpPr>
        <p:spPr>
          <a:xfrm>
            <a:off x="1408176" y="287121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amera"/>
          <p:cNvSpPr/>
          <p:nvPr/>
        </p:nvSpPr>
        <p:spPr>
          <a:xfrm>
            <a:off x="1773936" y="29626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amera"/>
          <p:cNvSpPr/>
          <p:nvPr/>
        </p:nvSpPr>
        <p:spPr>
          <a:xfrm>
            <a:off x="2139696" y="287121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facade</a:t>
            </a:r>
            <a:endParaRPr lang="en-US" sz="1600" dirty="0"/>
          </a:p>
        </p:txBody>
      </p:sp>
      <p:sp>
        <p:nvSpPr>
          <p:cNvPr id="11" name="One facade tilt"/>
          <p:cNvSpPr/>
          <p:nvPr/>
        </p:nvSpPr>
        <p:spPr>
          <a:xfrm>
            <a:off x="54864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One facade tilt"/>
          <p:cNvSpPr/>
          <p:nvPr/>
        </p:nvSpPr>
        <p:spPr>
          <a:xfrm>
            <a:off x="896112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One facade heading"/>
          <p:cNvSpPr/>
          <p:nvPr/>
        </p:nvSpPr>
        <p:spPr>
          <a:xfrm>
            <a:off x="124358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One facade scale"/>
          <p:cNvSpPr/>
          <p:nvPr/>
        </p:nvSpPr>
        <p:spPr>
          <a:xfrm>
            <a:off x="1591056" y="3931920"/>
            <a:ext cx="237744" cy="237744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One facade east"/>
          <p:cNvSpPr/>
          <p:nvPr/>
        </p:nvSpPr>
        <p:spPr>
          <a:xfrm>
            <a:off x="1938528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One facade north"/>
          <p:cNvSpPr/>
          <p:nvPr/>
        </p:nvSpPr>
        <p:spPr>
          <a:xfrm>
            <a:off x="228600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One facade height"/>
          <p:cNvSpPr/>
          <p:nvPr/>
        </p:nvSpPr>
        <p:spPr>
          <a:xfrm>
            <a:off x="2633472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scale undetermined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 ×0.970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heading 2.0° off</a:t>
            </a:r>
            <a:endParaRPr lang="en-US" sz="1400" dirty="0"/>
          </a:p>
        </p:txBody>
      </p:sp>
      <p:sp>
        <p:nvSpPr>
          <p:cNvPr id="20" name="plan Two parallel facades"/>
          <p:cNvSpPr/>
          <p:nvPr/>
        </p:nvSpPr>
        <p:spPr>
          <a:xfrm>
            <a:off x="3392424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uilding"/>
          <p:cNvSpPr/>
          <p:nvPr/>
        </p:nvSpPr>
        <p:spPr>
          <a:xfrm>
            <a:off x="3803904" y="1554480"/>
            <a:ext cx="1737360" cy="411480"/>
          </a:xfrm>
          <a:prstGeom prst="rect">
            <a:avLst/>
          </a:prstGeom>
          <a:solidFill>
            <a:srgbClr val="C9CFCD"/>
          </a:solidFill>
          <a:ln w="12700">
            <a:solidFill>
              <a:srgbClr val="C9CFCD"/>
            </a:solidFill>
            <a:prstDash val="solid"/>
          </a:ln>
        </p:spPr>
      </p:sp>
      <p:sp>
        <p:nvSpPr>
          <p:cNvPr id="22" name="building"/>
          <p:cNvSpPr/>
          <p:nvPr/>
        </p:nvSpPr>
        <p:spPr>
          <a:xfrm>
            <a:off x="3803904" y="2697480"/>
            <a:ext cx="1737360" cy="411480"/>
          </a:xfrm>
          <a:prstGeom prst="rect">
            <a:avLst/>
          </a:prstGeom>
          <a:solidFill>
            <a:srgbClr val="C9CFCD"/>
          </a:solidFill>
          <a:ln w="12700">
            <a:solidFill>
              <a:srgbClr val="C9CFCD"/>
            </a:solidFill>
            <a:prstDash val="solid"/>
          </a:ln>
        </p:spPr>
      </p:sp>
      <p:sp>
        <p:nvSpPr>
          <p:cNvPr id="23" name="seen facade"/>
          <p:cNvSpPr/>
          <p:nvPr/>
        </p:nvSpPr>
        <p:spPr>
          <a:xfrm>
            <a:off x="3803904" y="1965960"/>
            <a:ext cx="1737360" cy="91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24" name="seen facade"/>
          <p:cNvSpPr/>
          <p:nvPr/>
        </p:nvSpPr>
        <p:spPr>
          <a:xfrm>
            <a:off x="3803904" y="2697480"/>
            <a:ext cx="1737360" cy="91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25" name="camera"/>
          <p:cNvSpPr/>
          <p:nvPr/>
        </p:nvSpPr>
        <p:spPr>
          <a:xfrm>
            <a:off x="4160520" y="22768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camera"/>
          <p:cNvSpPr/>
          <p:nvPr/>
        </p:nvSpPr>
        <p:spPr>
          <a:xfrm>
            <a:off x="4617720" y="22768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camera"/>
          <p:cNvSpPr/>
          <p:nvPr/>
        </p:nvSpPr>
        <p:spPr>
          <a:xfrm>
            <a:off x="5074920" y="22768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lides along"/>
          <p:cNvSpPr/>
          <p:nvPr/>
        </p:nvSpPr>
        <p:spPr>
          <a:xfrm>
            <a:off x="3621024" y="2331720"/>
            <a:ext cx="320040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392424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parallel facades</a:t>
            </a:r>
            <a:endParaRPr lang="en-US" sz="1600" dirty="0"/>
          </a:p>
        </p:txBody>
      </p:sp>
      <p:sp>
        <p:nvSpPr>
          <p:cNvPr id="30" name="Two parallel facades tilt"/>
          <p:cNvSpPr/>
          <p:nvPr/>
        </p:nvSpPr>
        <p:spPr>
          <a:xfrm>
            <a:off x="339242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wo parallel facades tilt"/>
          <p:cNvSpPr/>
          <p:nvPr/>
        </p:nvSpPr>
        <p:spPr>
          <a:xfrm>
            <a:off x="3739896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Two parallel facades heading"/>
          <p:cNvSpPr/>
          <p:nvPr/>
        </p:nvSpPr>
        <p:spPr>
          <a:xfrm>
            <a:off x="4087368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Two parallel facades scale"/>
          <p:cNvSpPr/>
          <p:nvPr/>
        </p:nvSpPr>
        <p:spPr>
          <a:xfrm>
            <a:off x="443484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wo parallel facades east"/>
          <p:cNvSpPr/>
          <p:nvPr/>
        </p:nvSpPr>
        <p:spPr>
          <a:xfrm>
            <a:off x="4782312" y="3931920"/>
            <a:ext cx="237744" cy="237744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5" name="Two parallel facades north"/>
          <p:cNvSpPr/>
          <p:nvPr/>
        </p:nvSpPr>
        <p:spPr>
          <a:xfrm>
            <a:off x="512978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6" name="Two parallel facades height"/>
          <p:cNvSpPr/>
          <p:nvPr/>
        </p:nvSpPr>
        <p:spPr>
          <a:xfrm>
            <a:off x="5477256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392424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position undetermined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3392424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 ×0.999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heading 2.2° off</a:t>
            </a:r>
            <a:endParaRPr lang="en-US" sz="1400" dirty="0"/>
          </a:p>
        </p:txBody>
      </p:sp>
      <p:sp>
        <p:nvSpPr>
          <p:cNvPr id="39" name="plan A corner"/>
          <p:cNvSpPr/>
          <p:nvPr/>
        </p:nvSpPr>
        <p:spPr>
          <a:xfrm>
            <a:off x="6236208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building"/>
          <p:cNvSpPr/>
          <p:nvPr/>
        </p:nvSpPr>
        <p:spPr>
          <a:xfrm>
            <a:off x="6876288" y="1691640"/>
            <a:ext cx="1280160" cy="777240"/>
          </a:xfrm>
          <a:prstGeom prst="rect">
            <a:avLst/>
          </a:prstGeom>
          <a:solidFill>
            <a:srgbClr val="C9CFCD"/>
          </a:solidFill>
          <a:ln w="12700">
            <a:solidFill>
              <a:srgbClr val="C9CFCD"/>
            </a:solidFill>
            <a:prstDash val="solid"/>
          </a:ln>
        </p:spPr>
      </p:sp>
      <p:sp>
        <p:nvSpPr>
          <p:cNvPr id="41" name="seen facade"/>
          <p:cNvSpPr/>
          <p:nvPr/>
        </p:nvSpPr>
        <p:spPr>
          <a:xfrm>
            <a:off x="6876288" y="2468880"/>
            <a:ext cx="1280160" cy="91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42" name="seen facade"/>
          <p:cNvSpPr/>
          <p:nvPr/>
        </p:nvSpPr>
        <p:spPr>
          <a:xfrm>
            <a:off x="8156448" y="1691640"/>
            <a:ext cx="914" cy="77724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43" name="camera"/>
          <p:cNvSpPr/>
          <p:nvPr/>
        </p:nvSpPr>
        <p:spPr>
          <a:xfrm>
            <a:off x="7278624" y="291693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camera"/>
          <p:cNvSpPr/>
          <p:nvPr/>
        </p:nvSpPr>
        <p:spPr>
          <a:xfrm>
            <a:off x="8467344" y="287121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5" name="camera"/>
          <p:cNvSpPr/>
          <p:nvPr/>
        </p:nvSpPr>
        <p:spPr>
          <a:xfrm>
            <a:off x="8513064" y="195681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236208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corner</a:t>
            </a:r>
            <a:endParaRPr lang="en-US" sz="1600" dirty="0"/>
          </a:p>
        </p:txBody>
      </p:sp>
      <p:sp>
        <p:nvSpPr>
          <p:cNvPr id="47" name="A corner tilt"/>
          <p:cNvSpPr/>
          <p:nvPr/>
        </p:nvSpPr>
        <p:spPr>
          <a:xfrm>
            <a:off x="6236208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8" name="A corner tilt"/>
          <p:cNvSpPr/>
          <p:nvPr/>
        </p:nvSpPr>
        <p:spPr>
          <a:xfrm>
            <a:off x="658368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9" name="A corner heading"/>
          <p:cNvSpPr/>
          <p:nvPr/>
        </p:nvSpPr>
        <p:spPr>
          <a:xfrm>
            <a:off x="6931152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0" name="A corner scale"/>
          <p:cNvSpPr/>
          <p:nvPr/>
        </p:nvSpPr>
        <p:spPr>
          <a:xfrm>
            <a:off x="727862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1" name="A corner east"/>
          <p:cNvSpPr/>
          <p:nvPr/>
        </p:nvSpPr>
        <p:spPr>
          <a:xfrm>
            <a:off x="7626096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2" name="A corner north"/>
          <p:cNvSpPr/>
          <p:nvPr/>
        </p:nvSpPr>
        <p:spPr>
          <a:xfrm>
            <a:off x="7973568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3" name="A corner height"/>
          <p:cNvSpPr/>
          <p:nvPr/>
        </p:nvSpPr>
        <p:spPr>
          <a:xfrm>
            <a:off x="832104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236208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usable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236208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 ×0.993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heading 0.12° off</a:t>
            </a:r>
            <a:endParaRPr lang="en-US" sz="1400" dirty="0"/>
          </a:p>
        </p:txBody>
      </p:sp>
      <p:sp>
        <p:nvSpPr>
          <p:cNvPr id="56" name="plan Three facades"/>
          <p:cNvSpPr/>
          <p:nvPr/>
        </p:nvSpPr>
        <p:spPr>
          <a:xfrm>
            <a:off x="9079992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building"/>
          <p:cNvSpPr/>
          <p:nvPr/>
        </p:nvSpPr>
        <p:spPr>
          <a:xfrm>
            <a:off x="9720072" y="1691640"/>
            <a:ext cx="1280160" cy="777240"/>
          </a:xfrm>
          <a:prstGeom prst="rect">
            <a:avLst/>
          </a:prstGeom>
          <a:solidFill>
            <a:srgbClr val="C9CFCD"/>
          </a:solidFill>
          <a:ln w="12700">
            <a:solidFill>
              <a:srgbClr val="C9CFCD"/>
            </a:solidFill>
            <a:prstDash val="solid"/>
          </a:ln>
        </p:spPr>
      </p:sp>
      <p:sp>
        <p:nvSpPr>
          <p:cNvPr id="58" name="seen facade"/>
          <p:cNvSpPr/>
          <p:nvPr/>
        </p:nvSpPr>
        <p:spPr>
          <a:xfrm>
            <a:off x="9720072" y="2468880"/>
            <a:ext cx="1280160" cy="91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59" name="seen facade"/>
          <p:cNvSpPr/>
          <p:nvPr/>
        </p:nvSpPr>
        <p:spPr>
          <a:xfrm>
            <a:off x="11000232" y="1691640"/>
            <a:ext cx="914" cy="77724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60" name="seen facade"/>
          <p:cNvSpPr/>
          <p:nvPr/>
        </p:nvSpPr>
        <p:spPr>
          <a:xfrm>
            <a:off x="9720072" y="1691640"/>
            <a:ext cx="914" cy="77724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61" name="camera"/>
          <p:cNvSpPr/>
          <p:nvPr/>
        </p:nvSpPr>
        <p:spPr>
          <a:xfrm>
            <a:off x="9299448" y="200253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2" name="camera"/>
          <p:cNvSpPr/>
          <p:nvPr/>
        </p:nvSpPr>
        <p:spPr>
          <a:xfrm>
            <a:off x="10305288" y="29626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3" name="camera"/>
          <p:cNvSpPr/>
          <p:nvPr/>
        </p:nvSpPr>
        <p:spPr>
          <a:xfrm>
            <a:off x="11311128" y="200253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079992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facades</a:t>
            </a:r>
            <a:endParaRPr lang="en-US" sz="1600" dirty="0"/>
          </a:p>
        </p:txBody>
      </p:sp>
      <p:sp>
        <p:nvSpPr>
          <p:cNvPr id="65" name="Three facades tilt"/>
          <p:cNvSpPr/>
          <p:nvPr/>
        </p:nvSpPr>
        <p:spPr>
          <a:xfrm>
            <a:off x="9079992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6" name="Three facades tilt"/>
          <p:cNvSpPr/>
          <p:nvPr/>
        </p:nvSpPr>
        <p:spPr>
          <a:xfrm>
            <a:off x="942746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7" name="Three facades heading"/>
          <p:cNvSpPr/>
          <p:nvPr/>
        </p:nvSpPr>
        <p:spPr>
          <a:xfrm>
            <a:off x="9774936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8" name="Three facades scale"/>
          <p:cNvSpPr/>
          <p:nvPr/>
        </p:nvSpPr>
        <p:spPr>
          <a:xfrm>
            <a:off x="10122408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9" name="Three facades east"/>
          <p:cNvSpPr/>
          <p:nvPr/>
        </p:nvSpPr>
        <p:spPr>
          <a:xfrm>
            <a:off x="10469880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0" name="Three facades north"/>
          <p:cNvSpPr/>
          <p:nvPr/>
        </p:nvSpPr>
        <p:spPr>
          <a:xfrm>
            <a:off x="10817352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1" name="Three facades height"/>
          <p:cNvSpPr/>
          <p:nvPr/>
        </p:nvSpPr>
        <p:spPr>
          <a:xfrm>
            <a:off x="11164824" y="393192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079992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usable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9079992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 ×1.003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heading 0.10° off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synthetic hall with a known answer, seen from above; cameras in black, the facades they see in colour. Exact lidar roof edges, every cue on. Dots: tilt · tilt · heading · scale · east · north · height; red outline = not fixed.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hostMap">
  <a:themeElements>
    <a:clrScheme name="GhostMap">
      <a:dk1>
        <a:srgbClr val="1B2329"/>
      </a:dk1>
      <a:lt1>
        <a:srgbClr val="FFFFFF"/>
      </a:lt1>
      <a:dk2>
        <a:srgbClr val="33414A"/>
      </a:dk2>
      <a:lt2>
        <a:srgbClr val="EEF1F0"/>
      </a:lt2>
      <a:accent1>
        <a:srgbClr val="B5532C"/>
      </a:accent1>
      <a:accent2>
        <a:srgbClr val="2F7D4F"/>
      </a:accent2>
      <a:accent3>
        <a:srgbClr val="B4372F"/>
      </a:accent3>
      <a:accent4>
        <a:srgbClr val="B07A10"/>
      </a:accent4>
      <a:accent5>
        <a:srgbClr val="7C8790"/>
      </a:accent5>
      <a:accent6>
        <a:srgbClr val="E8A07E"/>
      </a:accent6>
      <a:hlink>
        <a:srgbClr val="B5532C"/>
      </a:hlink>
      <a:folHlink>
        <a:srgbClr val="7A3A20"/>
      </a:folHlink>
    </a:clrScheme>
    <a:fontScheme name="Ghost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GhostMap</dc:title>
  <dc:subject>Putting COLMAP reconstructions into the real world, without GPS</dc:subject>
  <dc:creator>GhostMap, CS 6672</dc:creator>
  <cp:lastModifiedBy>GhostMap, CS 6672</cp:lastModifiedBy>
  <cp:revision>1</cp:revision>
  <dcterms:created xsi:type="dcterms:W3CDTF">2026-10-29T08:13:38Z</dcterms:created>
  <dcterms:modified xsi:type="dcterms:W3CDTF">2026-10-29T08:13:38Z</dcterms:modified>
</cp:coreProperties>
</file>