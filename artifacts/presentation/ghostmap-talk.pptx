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3e01b3a-d8db-8ec9-d70a-6145075fcb03}">
          <p14:sldIdLst>
            <p14:sldId id="256"/>
            <p14:sldId id="257"/>
          </p14:sldIdLst>
        </p14:section>
        <p14:section name="The problem" id="{44946d91-b644-9c94-9bb2-037f104b4732}">
          <p14:sldIdLst>
            <p14:sldId id="258"/>
            <p14:sldId id="259"/>
            <p14:sldId id="260"/>
          </p14:sldIdLst>
        </p14:section>
        <p14:section name="The method" id="{3df789bd-ce16-5b81-969b-ead347da529a}">
          <p14:sldIdLst>
            <p14:sldId id="261"/>
            <p14:sldId id="262"/>
            <p14:sldId id="263"/>
          </p14:sldIdLst>
        </p14:section>
        <p14:section name="When it can't" id="{7d35e2f2-b375-0941-b26f-46c3e6b7fb77}">
          <p14:sldIdLst>
            <p14:sldId id="264"/>
            <p14:sldId id="265"/>
          </p14:sldIdLst>
        </p14:section>
        <p14:section name="A new photograph" id="{ac161ae8-1767-fb26-f050-e83f39a4fcf0}">
          <p14:sldIdLst>
            <p14:sldId id="266"/>
            <p14:sldId id="267"/>
          </p14:sldIdLst>
        </p14:section>
        <p14:section name="What it buys, what it can't" id="{5c8e87a5-3b91-7c50-507d-df84aadfc4c7}">
          <p14:sldIdLst>
            <p14:sldId id="268"/>
            <p14:sldId id="269"/>
            <p14:sldId id="270"/>
          </p14:sldIdLst>
        </p14:section>
        <p14:section name="Close" id="{e5d20387-afd0-f824-4672-d529f9ed2a3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341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33414A"/>
                </a:solidFill>
                <a:latin typeface="+mn-lt"/>
              </a:rPr>
              <a:t>76 photographs with a trustworthy reference pose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photographs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3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7D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7A1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437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placed</c:v>
                  </c:pt>
                  <c:pt idx="1">
                    <c:v>distance open</c:v>
                  </c:pt>
                  <c:pt idx="2">
                    <c:v>refused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21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B23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41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title slide. / 标题页。
EN: Hi, I'm [your name]. This is GhostMap, my COLMAP hacker project. In one sentence: COLMAP gives you a 3D
中文: 大家好，我是［名字］。这是 GhostMap，我的 COLMAP hacker project。一句话：COLMAP 给你的 3D 模型在一个没有意义的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photograph; then switch to the demo, chapter 11. Drop one of your own phone photographs (or click
EN: Here's a photograph of McGraw Tower. Suppose it has no GPS, like most photographs on the internet once
中文: 这是一张钟楼的照片。假设它没有 GPS——网上的照片转几手之后大多都没有。［拖进去］大约两秒，它就落在了校园上：这是
NEXT / 过渡: Let's start where every COLMAP project starts. / 我们从每个 COLMAP 项目的起点开始。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floating model (optionally demo chapter 1, and rotate it). / 漂着的模型（可以切到演示第 1 章转一转）。
EN: 88 licensed photographs of McGraw Tower and Uris Library, from Wikimedia Commons and Flickr, by 32
中文: 88 张有授权的钟楼和 Uris 图书馆的照片，来自 Wikimedia Commons 和 Flickr，32 位摄影者，有日期的从 2003 年到 2025 年。用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three numbers. / 三个数字。
EN: COLMAP's own answer is the model aligner: give it the camera positions, usually GPS, and it solves for the
中文: COLMAP 自己的办法是 model aligner：给它相机位置，通常就是 GPS，它就能解出这 7 个数。那看看我们实际有多少 GPS。整个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lidar campus. / lidar 校园。
EN: But the United States already has a 3D model of itself: USGS airborne lidar, public domain, in metres,
中文: 但美国本来就有一个自己的 3D 模型：USGS 的机载 lidar，公共领域，以米为单位，覆盖美国大部分地区。再加上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pipeline; point at the grey COLMAP steps, then the coloured ones. / 流程图：先指灰色的 COLMAP 步骤，
EN: Here's where this sits in the COLMAP pipeline. Grey is COLMAP: features and matches through hloc, incremental
中文: 这是它在 COLMAP 流程里的位置。灰色是 COLMAP：用 hloc 提特征和匹配，增量建图，然后是需要 GPS 的那一步。我替换的就是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cue table. / 线索表。
EN: No single cue fixes everything, so each one fixes part of the seven numbers. Facade normals give the up
中文: 没有哪条线索能定所有的数，所以每条线索定其中一部分。立面的法向给出"上"。摄影者在 lidar 地面上的高度再微调它：人站着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placed fragment; optionally switch to demo chapter 2 and let the snap play. / 放好的片段；可以切到演示
EN: [chapter 2] It lands. And it comes with a certificate. The scale is fixed three independent ways and they
中文: ［第 2 章］它落下来了，而且附带一张证书。尺度由三种独立的方式定出来，彼此误差在 ±3.9% 以内。第二好的朝向只有最优的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refusal table. / 拒绝的表格。
EN: The more interesting part is the refusals. I reconstructed the whole campus collection at once: 339
中文: 更有意思的是拒绝。我把整个校园的照片一起重建：339 张照片，29 个片段。其中 7 个够大可以试，证书把 7 个全部拒绝了，每个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four facade layouts. / 四种立面布局。
EN: Why does it refuse? Geometry. I built a synthetic hall where the answer is known. One facade can't fix its
中文: 为什么会拒绝？因为几何。我做了一个答案已知的合成建筑。只有一面墙定不了尺度：近处的小楼和远处的大楼看起来一样。两面平行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four steps and the two pictures; then demo chapter 11: click a long-lens photograph in the tray
EN: Back to the photograph from the start. COLMAP can register a new image, but only into its own frame. I run
中文: 回到开头那张照片。COLMAP 能注册新照片，但只能注册进它自己的坐标系。我用同样的步骤：NetVLAD 从 88 张里找最相似的，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chart and the four numbers. / 图表和四个数字。
EN: To test it, I took each photograph out of the reconstruction and placed it again from scratch. Of 76 with a
中文: 为了检验，我把每张照片从重建里拿出来，从头再放一次。在 76 张有可信参考位姿的照片里，53 张被放置，中位误差 0.7 米；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two panels; optionally demo chapter 5 (the fly-through, tick "paint each Gaussian by the
EN: Once the model is in metres, the lidar becomes a referee. I trained Gaussian splats from the same
中文: 模型一旦以米为单位，lidar 就成了裁判。我用同样的照片训练 Gaussian splat。普通的 splat 有 41% 的高斯埋在地面以下。加上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four limits. / 四条局限。
EN: What it can't do yet. One of eight fragments is certified, and it has no independent ground truth yet; my
中文: 还做不到的事。8 个片段只认证了 1 个，而且它还没有独立的真值；我自己带 GPS 的手机照片是下一步的检验。lidar 屋檐如果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related-work table. / 相关工作表。
EN: This isn't the first attempt. Kaminsky and colleagues aligned reconstructions to overhead images in 2009;
中文: 这不是第一次有人做。Kaminsky 等人 2009 年把重建对齐到航拍图；Wang、Wilson 和 Snavely 2013 年改进了用地理标签放置；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 操作: the closing slide; leave the demo open for questions. / 结束页；演示页面开着答问。
EN: So: COLMAP's frame is arbitrary; the world's isn't. With public data only and no GPS, a reconstruction can be
中文: 总结：COLMAP 的坐标系是随便定的，真实世界的不是。只用公开数据、不用 GPS，重建可以被放进世界，放不了的时候它也会说。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31520"/>
            <a:ext cx="566928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66928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GhostMap · CS 6672      map data © OpenStreetMap contributors · lidar USGS 3DEP · aerial imagery NYS GIS Program Office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31520"/>
            <a:ext cx="5669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GhostMap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965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CS 6672 · COLMAP HACKER PROJECT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9184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Putting COLMAP reconstructions into the real world, without GPS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074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4ADB3"/>
                </a:solidFill>
              </a:rPr>
              <a:t>Public data only: USGS 3DEP lidar · OpenStreetMap footprints · New York State aerial imagery · licensed photographs from Wikimedia Commons and Flickr</a:t>
            </a:r>
            <a:endParaRPr lang="en-US" sz="1200" dirty="0"/>
          </a:p>
        </p:txBody>
      </p:sp>
      <p:pic>
        <p:nvPicPr>
          <p:cNvPr id="7" name="A photograph painted onto the lidar city from where its photographer stood" descr="A photograph painted onto the lidar city from where its photographer st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417320"/>
            <a:ext cx="5029200" cy="3171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537960" y="4698213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photograph painted onto the lidar model of Cornell from where it was taken. Photograph: joebeone, CC BY 2.0 (Flickr).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was this photograph taken?</a:t>
            </a:r>
            <a:endParaRPr lang="en-US" sz="3200" dirty="0"/>
          </a:p>
        </p:txBody>
      </p:sp>
      <p:pic>
        <p:nvPicPr>
          <p:cNvPr id="4" name="A photograph of McGraw Tower from Ho Plaza" descr="A photograph of McGraw Tower from Ho Pla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035040" cy="4526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97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Photograph: joebeone, CC BY 2.0 (Flickr). Taken out of the reconstruction first, then placed again from scratch.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7315200" y="14630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GPS.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7315200" y="21488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EXIF.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315200" y="28346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pixels.</a:t>
            </a:r>
            <a:endParaRPr lang="en-US" sz="3600" dirty="0"/>
          </a:p>
        </p:txBody>
      </p:sp>
      <p:sp>
        <p:nvSpPr>
          <p:cNvPr id="9" name="demo cue"/>
          <p:cNvSpPr/>
          <p:nvPr/>
        </p:nvSpPr>
        <p:spPr>
          <a:xfrm>
            <a:off x="7315200" y="3749040"/>
            <a:ext cx="30175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0" y="3749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live demo · chapter 11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44805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Placed in 1–2 s on a laptop GPU, then painted back onto a 3D model of the campus from where the photographer stood.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COLMAP gives a model in its own frame</a:t>
            </a:r>
            <a:endParaRPr lang="en-US" sz="3200" dirty="0"/>
          </a:p>
        </p:txBody>
      </p:sp>
      <p:pic>
        <p:nvPicPr>
          <p:cNvPr id="4" name="The reconstruction floating in COLMAP's own frame" descr="The reconstruction floating in COLMAP's own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670741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77840"/>
            <a:ext cx="6670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COLMAP's cameras (blue) and points, at their native size and orientation (live demo, chapter 1).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7635240" y="1325880"/>
            <a:ext cx="39319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7635240" y="181660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licensed photographs of McGraw Tower and Uris Library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635240" y="2377440"/>
            <a:ext cx="39319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5,901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7635240" y="286816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3D points (SuperPoint, LightGlue, pycolmap incremental mapping)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3429000"/>
            <a:ext cx="39319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3919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photographers; the dated photographs span 2003–2025</a:t>
            </a:r>
            <a:endParaRPr lang="en-US" sz="1400" dirty="0"/>
          </a:p>
        </p:txBody>
      </p:sp>
      <p:sp>
        <p:nvSpPr>
          <p:cNvPr id="12" name="dofs tilt"/>
          <p:cNvSpPr/>
          <p:nvPr/>
        </p:nvSpPr>
        <p:spPr>
          <a:xfrm>
            <a:off x="768096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55294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tilt</a:t>
            </a:r>
            <a:endParaRPr lang="en-US" sz="1000" dirty="0"/>
          </a:p>
        </p:txBody>
      </p:sp>
      <p:sp>
        <p:nvSpPr>
          <p:cNvPr id="14" name="dofs tilt"/>
          <p:cNvSpPr/>
          <p:nvPr/>
        </p:nvSpPr>
        <p:spPr>
          <a:xfrm>
            <a:off x="822960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10158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tilt</a:t>
            </a:r>
            <a:endParaRPr lang="en-US" sz="1000" dirty="0"/>
          </a:p>
        </p:txBody>
      </p:sp>
      <p:sp>
        <p:nvSpPr>
          <p:cNvPr id="16" name="dofs heading"/>
          <p:cNvSpPr/>
          <p:nvPr/>
        </p:nvSpPr>
        <p:spPr>
          <a:xfrm>
            <a:off x="877824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5022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heading</a:t>
            </a:r>
            <a:endParaRPr lang="en-US" sz="1000" dirty="0"/>
          </a:p>
        </p:txBody>
      </p:sp>
      <p:sp>
        <p:nvSpPr>
          <p:cNvPr id="18" name="dofs scale"/>
          <p:cNvSpPr/>
          <p:nvPr/>
        </p:nvSpPr>
        <p:spPr>
          <a:xfrm>
            <a:off x="932688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9886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scale</a:t>
            </a:r>
            <a:endParaRPr lang="en-US" sz="1000" dirty="0"/>
          </a:p>
        </p:txBody>
      </p:sp>
      <p:sp>
        <p:nvSpPr>
          <p:cNvPr id="20" name="dofs east"/>
          <p:cNvSpPr/>
          <p:nvPr/>
        </p:nvSpPr>
        <p:spPr>
          <a:xfrm>
            <a:off x="987552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74750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east</a:t>
            </a:r>
            <a:endParaRPr lang="en-US" sz="1000" dirty="0"/>
          </a:p>
        </p:txBody>
      </p:sp>
      <p:sp>
        <p:nvSpPr>
          <p:cNvPr id="22" name="dofs north"/>
          <p:cNvSpPr/>
          <p:nvPr/>
        </p:nvSpPr>
        <p:spPr>
          <a:xfrm>
            <a:off x="1042416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29614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north</a:t>
            </a:r>
            <a:endParaRPr lang="en-US" sz="1000" dirty="0"/>
          </a:p>
        </p:txBody>
      </p:sp>
      <p:sp>
        <p:nvSpPr>
          <p:cNvPr id="24" name="dofs height"/>
          <p:cNvSpPr/>
          <p:nvPr/>
        </p:nvSpPr>
        <p:spPr>
          <a:xfrm>
            <a:off x="10972800" y="4617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844784" y="49560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height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seven numbers COLMAP leaves free: 1 scale, 3 rotations, 3 translations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use GPS?</a:t>
            </a:r>
            <a:endParaRPr lang="en-US" sz="3200" dirty="0"/>
          </a:p>
        </p:txBody>
      </p:sp>
      <p:sp>
        <p:nvSpPr>
          <p:cNvPr id="4" name="gps card 1"/>
          <p:cNvSpPr/>
          <p:nvPr/>
        </p:nvSpPr>
        <p:spPr>
          <a:xfrm>
            <a:off x="548640" y="1325880"/>
            <a:ext cx="3502152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GPS tag among 88 photographs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and it is 1.7 km off: it points to downtown Ithaca</a:t>
            </a:r>
            <a:endParaRPr lang="en-US" sz="1400" dirty="0"/>
          </a:p>
        </p:txBody>
      </p:sp>
      <p:sp>
        <p:nvSpPr>
          <p:cNvPr id="8" name="gps card 2"/>
          <p:cNvSpPr/>
          <p:nvPr/>
        </p:nvSpPr>
        <p:spPr>
          <a:xfrm>
            <a:off x="4343400" y="1325880"/>
            <a:ext cx="3502152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of the 88 are Flickr web copies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downloaded without any metadata at all, so their GPS is unknown</a:t>
            </a:r>
            <a:endParaRPr lang="en-US" sz="1400" dirty="0"/>
          </a:p>
        </p:txBody>
      </p:sp>
      <p:sp>
        <p:nvSpPr>
          <p:cNvPr id="12" name="gps card 3"/>
          <p:cNvSpPr/>
          <p:nvPr/>
        </p:nvSpPr>
        <p:spPr>
          <a:xfrm>
            <a:off x="8138160" y="1325880"/>
            <a:ext cx="3502152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≈11 m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GPS fit error at Gates Hall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one fragment with 6 tags: where it puts a held-out camera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COLMAP's model aligner needs known camera positions: at least three good, well-spread ones per fragment. Across the collection, 129 of 393 Commons photographs do carry GPS, just not where it matters, and a wrong tag never announces itself.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world already has a 3D model</a:t>
            </a:r>
            <a:endParaRPr lang="en-US" sz="3200" dirty="0"/>
          </a:p>
        </p:txBody>
      </p:sp>
      <p:pic>
        <p:nvPicPr>
          <p:cNvPr id="4" name="The campus: lidar terrain and buildings draped with an aerial photograph" descr="The campus: lidar terrain and buildings draped with an aerial photo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280160"/>
            <a:ext cx="6062472" cy="382269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577840" y="5194295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Cornell from USGS lidar, OpenStreetMap footprints and the 2023 New York State flight (live demo, chapter 6).</a:t>
            </a:r>
            <a:endParaRPr lang="en-US" sz="1100" dirty="0"/>
          </a:p>
        </p:txBody>
      </p:sp>
      <p:sp>
        <p:nvSpPr>
          <p:cNvPr id="6" name="source 1"/>
          <p:cNvSpPr/>
          <p:nvPr/>
        </p:nvSpPr>
        <p:spPr>
          <a:xfrm>
            <a:off x="548640" y="1435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6012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USGS 3DEP airborne lidar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1737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public domain, in metres, most of the US</a:t>
            </a:r>
            <a:endParaRPr lang="en-US" sz="1400" dirty="0"/>
          </a:p>
        </p:txBody>
      </p:sp>
      <p:sp>
        <p:nvSpPr>
          <p:cNvPr id="9" name="source 2"/>
          <p:cNvSpPr/>
          <p:nvPr/>
        </p:nvSpPr>
        <p:spPr>
          <a:xfrm>
            <a:off x="548640" y="23042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6012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OpenStreetMap footprints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606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building's outline, raised to its lidar roof</a:t>
            </a:r>
            <a:endParaRPr lang="en-US" sz="1400" dirty="0"/>
          </a:p>
        </p:txBody>
      </p:sp>
      <p:sp>
        <p:nvSpPr>
          <p:cNvPr id="12" name="source 3"/>
          <p:cNvSpPr/>
          <p:nvPr/>
        </p:nvSpPr>
        <p:spPr>
          <a:xfrm>
            <a:off x="548640" y="31729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3108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New York State aerial imagery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3474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six flights, 2002 to 2023, draped on the terrain</a:t>
            </a:r>
            <a:endParaRPr lang="en-US" sz="1400" dirty="0"/>
          </a:p>
        </p:txBody>
      </p:sp>
      <p:sp>
        <p:nvSpPr>
          <p:cNvPr id="15" name="the question"/>
          <p:cNvSpPr/>
          <p:nvPr/>
        </p:nvSpPr>
        <p:spPr>
          <a:xfrm>
            <a:off x="548640" y="4069080"/>
            <a:ext cx="475488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425196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public measurements fix COLMAP's seven free numbers instead of GPS, and say so when they can't?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plugs into COLMAP</a:t>
            </a:r>
            <a:endParaRPr lang="en-US" sz="3200" dirty="0"/>
          </a:p>
        </p:txBody>
      </p:sp>
      <p:sp>
        <p:nvSpPr>
          <p:cNvPr id="4" name="legend COLMAP / pycolmap"/>
          <p:cNvSpPr/>
          <p:nvPr/>
        </p:nvSpPr>
        <p:spPr>
          <a:xfrm>
            <a:off x="548640" y="1234440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32688" y="12161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COLMAP / pycolmap</a:t>
            </a:r>
            <a:endParaRPr lang="en-US" sz="1400" dirty="0"/>
          </a:p>
        </p:txBody>
      </p:sp>
      <p:sp>
        <p:nvSpPr>
          <p:cNvPr id="6" name="legend added in GhostMap"/>
          <p:cNvSpPr/>
          <p:nvPr/>
        </p:nvSpPr>
        <p:spPr>
          <a:xfrm>
            <a:off x="3200400" y="1234440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84448" y="12161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added in GhostMap</a:t>
            </a:r>
            <a:endParaRPr lang="en-US" sz="1400" dirty="0"/>
          </a:p>
        </p:txBody>
      </p:sp>
      <p:sp>
        <p:nvSpPr>
          <p:cNvPr id="8" name="colmap step 1"/>
          <p:cNvSpPr/>
          <p:nvPr/>
        </p:nvSpPr>
        <p:spPr>
          <a:xfrm>
            <a:off x="548640" y="1783080"/>
            <a:ext cx="2011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Features + matches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hloc: SuperPoint, LightGlue, NetVLAD pairs</a:t>
            </a:r>
            <a:endParaRPr lang="en-US" sz="1200" dirty="0"/>
          </a:p>
        </p:txBody>
      </p:sp>
      <p:sp>
        <p:nvSpPr>
          <p:cNvPr id="11" name="flow 1"/>
          <p:cNvSpPr/>
          <p:nvPr/>
        </p:nvSpPr>
        <p:spPr>
          <a:xfrm>
            <a:off x="2578608" y="2446020"/>
            <a:ext cx="221742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colmap step 2"/>
          <p:cNvSpPr/>
          <p:nvPr/>
        </p:nvSpPr>
        <p:spPr>
          <a:xfrm>
            <a:off x="2818638" y="1783080"/>
            <a:ext cx="2011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5579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Incremental mapping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5579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pycolmap's incremental_mapping</a:t>
            </a:r>
            <a:endParaRPr lang="en-US" sz="1200" dirty="0"/>
          </a:p>
        </p:txBody>
      </p:sp>
      <p:sp>
        <p:nvSpPr>
          <p:cNvPr id="15" name="flow 2"/>
          <p:cNvSpPr/>
          <p:nvPr/>
        </p:nvSpPr>
        <p:spPr>
          <a:xfrm>
            <a:off x="4848606" y="2446020"/>
            <a:ext cx="221742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colmap step 3"/>
          <p:cNvSpPr/>
          <p:nvPr/>
        </p:nvSpPr>
        <p:spPr>
          <a:xfrm>
            <a:off x="5088636" y="1783080"/>
            <a:ext cx="2011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25796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Align to the world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225796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model_aligner: needs GPS or known camera positions</a:t>
            </a:r>
            <a:endParaRPr lang="en-US" sz="1200" dirty="0"/>
          </a:p>
        </p:txBody>
      </p:sp>
      <p:sp>
        <p:nvSpPr>
          <p:cNvPr id="19" name="flow 3"/>
          <p:cNvSpPr/>
          <p:nvPr/>
        </p:nvSpPr>
        <p:spPr>
          <a:xfrm>
            <a:off x="7118604" y="2446020"/>
            <a:ext cx="221742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colmap step 4"/>
          <p:cNvSpPr/>
          <p:nvPr/>
        </p:nvSpPr>
        <p:spPr>
          <a:xfrm>
            <a:off x="7358634" y="1783080"/>
            <a:ext cx="2011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95794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Register a new image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495794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absolute pose (RANSAC), into COLMAP's own frame</a:t>
            </a:r>
            <a:endParaRPr lang="en-US" sz="1200" dirty="0"/>
          </a:p>
        </p:txBody>
      </p:sp>
      <p:sp>
        <p:nvSpPr>
          <p:cNvPr id="23" name="flow 4"/>
          <p:cNvSpPr/>
          <p:nvPr/>
        </p:nvSpPr>
        <p:spPr>
          <a:xfrm>
            <a:off x="9388602" y="2446020"/>
            <a:ext cx="221742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colmap step 5"/>
          <p:cNvSpPr/>
          <p:nvPr/>
        </p:nvSpPr>
        <p:spPr>
          <a:xfrm>
            <a:off x="9628632" y="1783080"/>
            <a:ext cx="2011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765792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Undistort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765792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undistort_images, for dense models and splats</a:t>
            </a:r>
            <a:endParaRPr lang="en-US" sz="1200" dirty="0"/>
          </a:p>
        </p:txBody>
      </p:sp>
      <p:sp>
        <p:nvSpPr>
          <p:cNvPr id="27" name="replaces 3"/>
          <p:cNvSpPr/>
          <p:nvPr/>
        </p:nvSpPr>
        <p:spPr>
          <a:xfrm>
            <a:off x="6094476" y="3154680"/>
            <a:ext cx="914" cy="4572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ghostmap step 1"/>
          <p:cNvSpPr/>
          <p:nvPr/>
        </p:nvSpPr>
        <p:spPr>
          <a:xfrm>
            <a:off x="5088636" y="365760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225796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Cue-based similarity + certificate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225796" y="4434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public lidar and footprints, no GPS; applied with transform(Sim3d)</a:t>
            </a:r>
            <a:endParaRPr lang="en-US" sz="1200" dirty="0"/>
          </a:p>
        </p:txBody>
      </p:sp>
      <p:sp>
        <p:nvSpPr>
          <p:cNvPr id="31" name="replaces 4"/>
          <p:cNvSpPr/>
          <p:nvPr/>
        </p:nvSpPr>
        <p:spPr>
          <a:xfrm>
            <a:off x="8364474" y="3154680"/>
            <a:ext cx="914" cy="4572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ghostmap step 2"/>
          <p:cNvSpPr/>
          <p:nvPr/>
        </p:nvSpPr>
        <p:spPr>
          <a:xfrm>
            <a:off x="7358634" y="365760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5794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Register into the world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495794" y="4434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53 of 76 placed, median 0.7 m; three verdicts</a:t>
            </a:r>
            <a:endParaRPr lang="en-US" sz="1200" dirty="0"/>
          </a:p>
        </p:txBody>
      </p:sp>
      <p:sp>
        <p:nvSpPr>
          <p:cNvPr id="35" name="replaces 5"/>
          <p:cNvSpPr/>
          <p:nvPr/>
        </p:nvSpPr>
        <p:spPr>
          <a:xfrm>
            <a:off x="10634472" y="3154680"/>
            <a:ext cx="914" cy="4572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6" name="ghostmap step 3"/>
          <p:cNvSpPr/>
          <p:nvPr/>
        </p:nvSpPr>
        <p:spPr>
          <a:xfrm>
            <a:off x="9628632" y="3657600"/>
            <a:ext cx="2011680" cy="1691640"/>
          </a:xfrm>
          <a:prstGeom prst="roundRect">
            <a:avLst>
              <a:gd name="adj" fmla="val 43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765792" y="37490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Splats checked and taught by the lidar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9765792" y="4434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every Gaussian scored against measured free space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4023360"/>
            <a:ext cx="4281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COLMAP does these as they are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Everything after mapping now lives in metres on the real campus.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cue fixes some of the seven numbers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406640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tilt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973568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tilt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540496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heading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9107424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scale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674352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east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241280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north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808208" y="1234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height</a:t>
            </a:r>
            <a:endParaRPr lang="en-US" sz="1100" dirty="0"/>
          </a:p>
        </p:txBody>
      </p:sp>
      <p:sp>
        <p:nvSpPr>
          <p:cNvPr id="11" name="row band 1"/>
          <p:cNvSpPr/>
          <p:nvPr/>
        </p:nvSpPr>
        <p:spPr>
          <a:xfrm>
            <a:off x="548640" y="1572768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Facade normals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794760" y="1645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walls are vertical</a:t>
            </a:r>
            <a:endParaRPr lang="en-US" sz="1400" dirty="0"/>
          </a:p>
        </p:txBody>
      </p:sp>
      <p:sp>
        <p:nvSpPr>
          <p:cNvPr id="14" name="Facade normals tilt"/>
          <p:cNvSpPr/>
          <p:nvPr/>
        </p:nvSpPr>
        <p:spPr>
          <a:xfrm>
            <a:off x="7543800" y="172821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Facade normals tilt"/>
          <p:cNvSpPr/>
          <p:nvPr/>
        </p:nvSpPr>
        <p:spPr>
          <a:xfrm>
            <a:off x="8110728" y="172821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Facade normals heading"/>
          <p:cNvSpPr/>
          <p:nvPr/>
        </p:nvSpPr>
        <p:spPr>
          <a:xfrm>
            <a:off x="8677656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7" name="Facade normals scale"/>
          <p:cNvSpPr/>
          <p:nvPr/>
        </p:nvSpPr>
        <p:spPr>
          <a:xfrm>
            <a:off x="9244584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8" name="Facade normals east"/>
          <p:cNvSpPr/>
          <p:nvPr/>
        </p:nvSpPr>
        <p:spPr>
          <a:xfrm>
            <a:off x="9811512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9" name="Facade normals north"/>
          <p:cNvSpPr/>
          <p:nvPr/>
        </p:nvSpPr>
        <p:spPr>
          <a:xfrm>
            <a:off x="10378440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0" name="Facade normals height"/>
          <p:cNvSpPr/>
          <p:nvPr/>
        </p:nvSpPr>
        <p:spPr>
          <a:xfrm>
            <a:off x="10945368" y="172821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22494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Photographers' heights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794760" y="22494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people stand at eye height on the lidar ground</a:t>
            </a:r>
            <a:endParaRPr lang="en-US" sz="1400" dirty="0"/>
          </a:p>
        </p:txBody>
      </p:sp>
      <p:sp>
        <p:nvSpPr>
          <p:cNvPr id="23" name="Photographers' heights tilt"/>
          <p:cNvSpPr/>
          <p:nvPr/>
        </p:nvSpPr>
        <p:spPr>
          <a:xfrm>
            <a:off x="7543800" y="2331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Photographers' heights tilt"/>
          <p:cNvSpPr/>
          <p:nvPr/>
        </p:nvSpPr>
        <p:spPr>
          <a:xfrm>
            <a:off x="8110728" y="2331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Photographers' heights heading"/>
          <p:cNvSpPr/>
          <p:nvPr/>
        </p:nvSpPr>
        <p:spPr>
          <a:xfrm>
            <a:off x="8677656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6" name="Photographers' heights scale"/>
          <p:cNvSpPr/>
          <p:nvPr/>
        </p:nvSpPr>
        <p:spPr>
          <a:xfrm>
            <a:off x="9244584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7" name="Photographers' heights east"/>
          <p:cNvSpPr/>
          <p:nvPr/>
        </p:nvSpPr>
        <p:spPr>
          <a:xfrm>
            <a:off x="9811512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8" name="Photographers' heights north"/>
          <p:cNvSpPr/>
          <p:nvPr/>
        </p:nvSpPr>
        <p:spPr>
          <a:xfrm>
            <a:off x="10378440" y="233172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9" name="Photographers' heights height"/>
          <p:cNvSpPr/>
          <p:nvPr/>
        </p:nvSpPr>
        <p:spPr>
          <a:xfrm>
            <a:off x="10945368" y="2331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0" name="row band 3"/>
          <p:cNvSpPr/>
          <p:nvPr/>
        </p:nvSpPr>
        <p:spPr>
          <a:xfrm>
            <a:off x="548640" y="2779776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852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OpenStreetMap walls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3794760" y="285292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points sit on the footprint walls</a:t>
            </a:r>
            <a:endParaRPr lang="en-US" sz="1400" dirty="0"/>
          </a:p>
        </p:txBody>
      </p:sp>
      <p:sp>
        <p:nvSpPr>
          <p:cNvPr id="33" name="OpenStreetMap walls tilt"/>
          <p:cNvSpPr/>
          <p:nvPr/>
        </p:nvSpPr>
        <p:spPr>
          <a:xfrm>
            <a:off x="7543800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4" name="OpenStreetMap walls tilt"/>
          <p:cNvSpPr/>
          <p:nvPr/>
        </p:nvSpPr>
        <p:spPr>
          <a:xfrm>
            <a:off x="8110728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5" name="OpenStreetMap walls heading"/>
          <p:cNvSpPr/>
          <p:nvPr/>
        </p:nvSpPr>
        <p:spPr>
          <a:xfrm>
            <a:off x="8677656" y="29352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OpenStreetMap walls scale"/>
          <p:cNvSpPr/>
          <p:nvPr/>
        </p:nvSpPr>
        <p:spPr>
          <a:xfrm>
            <a:off x="9244584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7" name="OpenStreetMap walls east"/>
          <p:cNvSpPr/>
          <p:nvPr/>
        </p:nvSpPr>
        <p:spPr>
          <a:xfrm>
            <a:off x="9811512" y="29352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8" name="OpenStreetMap walls north"/>
          <p:cNvSpPr/>
          <p:nvPr/>
        </p:nvSpPr>
        <p:spPr>
          <a:xfrm>
            <a:off x="10378440" y="29352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9" name="OpenStreetMap walls height"/>
          <p:cNvSpPr/>
          <p:nvPr/>
        </p:nvSpPr>
        <p:spPr>
          <a:xfrm>
            <a:off x="10945368" y="2935224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3456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Lidar roof edges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3794760" y="34564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facade's top meets its lidar roof</a:t>
            </a:r>
            <a:endParaRPr lang="en-US" sz="1400" dirty="0"/>
          </a:p>
        </p:txBody>
      </p:sp>
      <p:sp>
        <p:nvSpPr>
          <p:cNvPr id="42" name="Lidar roof edges tilt"/>
          <p:cNvSpPr/>
          <p:nvPr/>
        </p:nvSpPr>
        <p:spPr>
          <a:xfrm>
            <a:off x="7543800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3" name="Lidar roof edges tilt"/>
          <p:cNvSpPr/>
          <p:nvPr/>
        </p:nvSpPr>
        <p:spPr>
          <a:xfrm>
            <a:off x="8110728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4" name="Lidar roof edges heading"/>
          <p:cNvSpPr/>
          <p:nvPr/>
        </p:nvSpPr>
        <p:spPr>
          <a:xfrm>
            <a:off x="8677656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5" name="Lidar roof edges scale"/>
          <p:cNvSpPr/>
          <p:nvPr/>
        </p:nvSpPr>
        <p:spPr>
          <a:xfrm>
            <a:off x="9244584" y="353872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6" name="Lidar roof edges east"/>
          <p:cNvSpPr/>
          <p:nvPr/>
        </p:nvSpPr>
        <p:spPr>
          <a:xfrm>
            <a:off x="9811512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7" name="Lidar roof edges north"/>
          <p:cNvSpPr/>
          <p:nvPr/>
        </p:nvSpPr>
        <p:spPr>
          <a:xfrm>
            <a:off x="10378440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8" name="Lidar roof edges height"/>
          <p:cNvSpPr/>
          <p:nvPr/>
        </p:nvSpPr>
        <p:spPr>
          <a:xfrm>
            <a:off x="10945368" y="3538728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49" name="row band 5"/>
          <p:cNvSpPr/>
          <p:nvPr/>
        </p:nvSpPr>
        <p:spPr>
          <a:xfrm>
            <a:off x="548640" y="3986784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85800" y="40599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Parallel walls</a:t>
            </a:r>
            <a:endParaRPr lang="en-US" sz="1600" dirty="0"/>
          </a:p>
        </p:txBody>
      </p:sp>
      <p:sp>
        <p:nvSpPr>
          <p:cNvPr id="51" name="Text 48"/>
          <p:cNvSpPr txBox="1"/>
          <p:nvPr/>
        </p:nvSpPr>
        <p:spPr>
          <a:xfrm>
            <a:off x="3794760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their spacing is known in metres</a:t>
            </a:r>
            <a:endParaRPr lang="en-US" sz="1400" dirty="0"/>
          </a:p>
        </p:txBody>
      </p:sp>
      <p:sp>
        <p:nvSpPr>
          <p:cNvPr id="52" name="Parallel walls tilt"/>
          <p:cNvSpPr/>
          <p:nvPr/>
        </p:nvSpPr>
        <p:spPr>
          <a:xfrm>
            <a:off x="7543800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3" name="Parallel walls tilt"/>
          <p:cNvSpPr/>
          <p:nvPr/>
        </p:nvSpPr>
        <p:spPr>
          <a:xfrm>
            <a:off x="8110728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4" name="Parallel walls heading"/>
          <p:cNvSpPr/>
          <p:nvPr/>
        </p:nvSpPr>
        <p:spPr>
          <a:xfrm>
            <a:off x="8677656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5" name="Parallel walls scale"/>
          <p:cNvSpPr/>
          <p:nvPr/>
        </p:nvSpPr>
        <p:spPr>
          <a:xfrm>
            <a:off x="9244584" y="414223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6" name="Parallel walls east"/>
          <p:cNvSpPr/>
          <p:nvPr/>
        </p:nvSpPr>
        <p:spPr>
          <a:xfrm>
            <a:off x="9811512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7" name="Parallel walls north"/>
          <p:cNvSpPr/>
          <p:nvPr/>
        </p:nvSpPr>
        <p:spPr>
          <a:xfrm>
            <a:off x="10378440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8" name="Parallel walls height"/>
          <p:cNvSpPr/>
          <p:nvPr/>
        </p:nvSpPr>
        <p:spPr>
          <a:xfrm>
            <a:off x="10945368" y="4142232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McGraw Tower top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3794760" y="46634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tower's top and axis in the lidar</a:t>
            </a:r>
            <a:endParaRPr lang="en-US" sz="1400" dirty="0"/>
          </a:p>
        </p:txBody>
      </p:sp>
      <p:sp>
        <p:nvSpPr>
          <p:cNvPr id="61" name="McGraw Tower top tilt"/>
          <p:cNvSpPr/>
          <p:nvPr/>
        </p:nvSpPr>
        <p:spPr>
          <a:xfrm>
            <a:off x="7543800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2" name="McGraw Tower top tilt"/>
          <p:cNvSpPr/>
          <p:nvPr/>
        </p:nvSpPr>
        <p:spPr>
          <a:xfrm>
            <a:off x="8110728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3" name="McGraw Tower top heading"/>
          <p:cNvSpPr/>
          <p:nvPr/>
        </p:nvSpPr>
        <p:spPr>
          <a:xfrm>
            <a:off x="8677656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4" name="McGraw Tower top scale"/>
          <p:cNvSpPr/>
          <p:nvPr/>
        </p:nvSpPr>
        <p:spPr>
          <a:xfrm>
            <a:off x="9244584" y="47457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5" name="McGraw Tower top east"/>
          <p:cNvSpPr/>
          <p:nvPr/>
        </p:nvSpPr>
        <p:spPr>
          <a:xfrm>
            <a:off x="9811512" y="47457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6" name="McGraw Tower top north"/>
          <p:cNvSpPr/>
          <p:nvPr/>
        </p:nvSpPr>
        <p:spPr>
          <a:xfrm>
            <a:off x="10378440" y="47457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7" name="McGraw Tower top height"/>
          <p:cNvSpPr/>
          <p:nvPr/>
        </p:nvSpPr>
        <p:spPr>
          <a:xfrm>
            <a:off x="10945368" y="4745736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8" name="row band 7"/>
          <p:cNvSpPr/>
          <p:nvPr/>
        </p:nvSpPr>
        <p:spPr>
          <a:xfrm>
            <a:off x="548640" y="5193792"/>
            <a:ext cx="11091672" cy="60350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685800" y="52669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Free space</a:t>
            </a:r>
            <a:endParaRPr lang="en-US" sz="1600" dirty="0"/>
          </a:p>
        </p:txBody>
      </p:sp>
      <p:sp>
        <p:nvSpPr>
          <p:cNvPr id="70" name="Text 67"/>
          <p:cNvSpPr txBox="1"/>
          <p:nvPr/>
        </p:nvSpPr>
        <p:spPr>
          <a:xfrm>
            <a:off x="3794760" y="526694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line of sight passes through a building</a:t>
            </a:r>
            <a:endParaRPr lang="en-US" sz="1400" dirty="0"/>
          </a:p>
        </p:txBody>
      </p:sp>
      <p:sp>
        <p:nvSpPr>
          <p:cNvPr id="71" name="Free space tilt"/>
          <p:cNvSpPr/>
          <p:nvPr/>
        </p:nvSpPr>
        <p:spPr>
          <a:xfrm>
            <a:off x="7543800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2" name="Free space tilt"/>
          <p:cNvSpPr/>
          <p:nvPr/>
        </p:nvSpPr>
        <p:spPr>
          <a:xfrm>
            <a:off x="8110728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3" name="Free space heading"/>
          <p:cNvSpPr/>
          <p:nvPr/>
        </p:nvSpPr>
        <p:spPr>
          <a:xfrm>
            <a:off x="8677656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4" name="Free space scale"/>
          <p:cNvSpPr/>
          <p:nvPr/>
        </p:nvSpPr>
        <p:spPr>
          <a:xfrm>
            <a:off x="9244584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5" name="Free space east"/>
          <p:cNvSpPr/>
          <p:nvPr/>
        </p:nvSpPr>
        <p:spPr>
          <a:xfrm>
            <a:off x="9811512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6" name="Free space north"/>
          <p:cNvSpPr/>
          <p:nvPr/>
        </p:nvSpPr>
        <p:spPr>
          <a:xfrm>
            <a:off x="10378440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7" name="Free space height"/>
          <p:cNvSpPr/>
          <p:nvPr/>
        </p:nvSpPr>
        <p:spPr>
          <a:xfrm>
            <a:off x="10945368" y="5349240"/>
            <a:ext cx="292608" cy="292608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Filled: the cue fixes that number. Free space fixes none on its own; it rules out placements that put a camera's line of sight through a building.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lands, with a certificate</a:t>
            </a:r>
            <a:endParaRPr lang="en-US" sz="3200" dirty="0"/>
          </a:p>
        </p:txBody>
      </p:sp>
      <p:pic>
        <p:nvPicPr>
          <p:cNvPr id="4" name="The fragment placed in the lidar campus" descr="The fragment placed in the lidar cam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426665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38259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same COLMAP cameras and points, placed in metres among the lidar buildings (live demo, chapter 2).</a:t>
            </a:r>
            <a:endParaRPr lang="en-US" sz="1100" dirty="0"/>
          </a:p>
        </p:txBody>
      </p:sp>
      <p:sp>
        <p:nvSpPr>
          <p:cNvPr id="6" name="verdict"/>
          <p:cNvSpPr/>
          <p:nvPr/>
        </p:nvSpPr>
        <p:spPr>
          <a:xfrm>
            <a:off x="7680960" y="1325880"/>
            <a:ext cx="310896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680960" y="1325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certificate: usable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680960" y="2011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±3.9 %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9281160" y="20116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scale, fixed 3 independent ways: tower top, parallel walls, roof edges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72 %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9281160" y="2880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best other heading's score against the winner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37490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3.7°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9281160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vertical levelled by the photographers' heights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83 %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9281160" y="46177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COLMAP's points within 2.5 m of a lidar surface</a:t>
            </a:r>
            <a:endParaRPr lang="en-US" sz="1400" dirty="0"/>
          </a:p>
        </p:txBody>
      </p:sp>
      <p:sp>
        <p:nvSpPr>
          <p:cNvPr id="16" name="all fixed tilt"/>
          <p:cNvSpPr/>
          <p:nvPr/>
        </p:nvSpPr>
        <p:spPr>
          <a:xfrm>
            <a:off x="7726680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all fixed tilt"/>
          <p:cNvSpPr/>
          <p:nvPr/>
        </p:nvSpPr>
        <p:spPr>
          <a:xfrm>
            <a:off x="8202168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all fixed heading"/>
          <p:cNvSpPr/>
          <p:nvPr/>
        </p:nvSpPr>
        <p:spPr>
          <a:xfrm>
            <a:off x="8677656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9" name="all fixed scale"/>
          <p:cNvSpPr/>
          <p:nvPr/>
        </p:nvSpPr>
        <p:spPr>
          <a:xfrm>
            <a:off x="9153144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0" name="all fixed east"/>
          <p:cNvSpPr/>
          <p:nvPr/>
        </p:nvSpPr>
        <p:spPr>
          <a:xfrm>
            <a:off x="9628632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1" name="all fixed north"/>
          <p:cNvSpPr/>
          <p:nvPr/>
        </p:nvSpPr>
        <p:spPr>
          <a:xfrm>
            <a:off x="10104120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2" name="all fixed height"/>
          <p:cNvSpPr/>
          <p:nvPr/>
        </p:nvSpPr>
        <p:spPr>
          <a:xfrm>
            <a:off x="10579608" y="548640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26680" y="5852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all seven fixed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when it can't</a:t>
            </a:r>
            <a:endParaRPr lang="en-US" sz="3200" dirty="0"/>
          </a:p>
        </p:txBody>
      </p:sp>
      <p:graphicFrame>
        <p:nvGraphicFramePr>
          <p:cNvPr id="10" name="campus fragm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143000"/>
                <a:gridCol w="301752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Fragment (named by its photographs)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Photos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Certificate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Checked by GPS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Uris Library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54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no facade seen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Morrill Hall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18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cameras inside buildings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845 m off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27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cues disagree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Goldwin Smith Hall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scale undetermined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McGraw Tower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22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cameras inside buildings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no usable GPS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Olive Tjaden Hall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scale undetermined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64 m off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Gates Hall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</a:rPr>
                        <a:t>refused: scale undetermined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325 m off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32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whole campus collection reconstructed at once: 339 photographs, 29 fragments; the 7 with eight or more cameras are listed.</a:t>
            </a:r>
            <a:endParaRPr lang="en-US" sz="1100" dirty="0"/>
          </a:p>
        </p:txBody>
      </p:sp>
      <p:sp>
        <p:nvSpPr>
          <p:cNvPr id="6" name="callout"/>
          <p:cNvSpPr/>
          <p:nvPr/>
        </p:nvSpPr>
        <p:spPr>
          <a:xfrm>
            <a:off x="8778240" y="1325880"/>
            <a:ext cx="2862072" cy="384048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3</a:t>
            </a:r>
            <a:endParaRPr lang="en-US" sz="5400" dirty="0"/>
          </a:p>
        </p:txBody>
      </p:sp>
      <p:sp>
        <p:nvSpPr>
          <p:cNvPr id="8" name="Text 4"/>
          <p:cNvSpPr txBox="1"/>
          <p:nvPr/>
        </p:nvSpPr>
        <p:spPr>
          <a:xfrm>
            <a:off x="9006840" y="25146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placements GPS could check were 64 m to 845 m off, and all were refused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006840" y="40233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none certified and then found wrong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decides</a:t>
            </a:r>
            <a:endParaRPr lang="en-US" sz="3200" dirty="0"/>
          </a:p>
        </p:txBody>
      </p:sp>
      <p:sp>
        <p:nvSpPr>
          <p:cNvPr id="4" name="plan One facade"/>
          <p:cNvSpPr/>
          <p:nvPr/>
        </p:nvSpPr>
        <p:spPr>
          <a:xfrm>
            <a:off x="548640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uilding"/>
          <p:cNvSpPr/>
          <p:nvPr/>
        </p:nvSpPr>
        <p:spPr>
          <a:xfrm>
            <a:off x="1188720" y="1691640"/>
            <a:ext cx="1280160" cy="77724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6" name="seen facade"/>
          <p:cNvSpPr/>
          <p:nvPr/>
        </p:nvSpPr>
        <p:spPr>
          <a:xfrm>
            <a:off x="1188720" y="2468880"/>
            <a:ext cx="12801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7" name="camera"/>
          <p:cNvSpPr/>
          <p:nvPr/>
        </p:nvSpPr>
        <p:spPr>
          <a:xfrm>
            <a:off x="1408176" y="28712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amera"/>
          <p:cNvSpPr/>
          <p:nvPr/>
        </p:nvSpPr>
        <p:spPr>
          <a:xfrm>
            <a:off x="1773936" y="29626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camera"/>
          <p:cNvSpPr/>
          <p:nvPr/>
        </p:nvSpPr>
        <p:spPr>
          <a:xfrm>
            <a:off x="2139696" y="28712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 facade</a:t>
            </a:r>
            <a:endParaRPr lang="en-US" sz="1600" dirty="0"/>
          </a:p>
        </p:txBody>
      </p:sp>
      <p:sp>
        <p:nvSpPr>
          <p:cNvPr id="11" name="One facade tilt"/>
          <p:cNvSpPr/>
          <p:nvPr/>
        </p:nvSpPr>
        <p:spPr>
          <a:xfrm>
            <a:off x="54864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2" name="One facade tilt"/>
          <p:cNvSpPr/>
          <p:nvPr/>
        </p:nvSpPr>
        <p:spPr>
          <a:xfrm>
            <a:off x="89611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One facade heading"/>
          <p:cNvSpPr/>
          <p:nvPr/>
        </p:nvSpPr>
        <p:spPr>
          <a:xfrm>
            <a:off x="124358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One facade scale"/>
          <p:cNvSpPr/>
          <p:nvPr/>
        </p:nvSpPr>
        <p:spPr>
          <a:xfrm>
            <a:off x="1591056" y="3931920"/>
            <a:ext cx="237744" cy="237744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5" name="One facade east"/>
          <p:cNvSpPr/>
          <p:nvPr/>
        </p:nvSpPr>
        <p:spPr>
          <a:xfrm>
            <a:off x="193852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One facade north"/>
          <p:cNvSpPr/>
          <p:nvPr/>
        </p:nvSpPr>
        <p:spPr>
          <a:xfrm>
            <a:off x="228600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One facade height"/>
          <p:cNvSpPr/>
          <p:nvPr/>
        </p:nvSpPr>
        <p:spPr>
          <a:xfrm>
            <a:off x="263347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scale undetermined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×0.970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2.0° off</a:t>
            </a:r>
            <a:endParaRPr lang="en-US" sz="1400" dirty="0"/>
          </a:p>
        </p:txBody>
      </p:sp>
      <p:sp>
        <p:nvSpPr>
          <p:cNvPr id="20" name="plan Two parallel facades"/>
          <p:cNvSpPr/>
          <p:nvPr/>
        </p:nvSpPr>
        <p:spPr>
          <a:xfrm>
            <a:off x="3392424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building"/>
          <p:cNvSpPr/>
          <p:nvPr/>
        </p:nvSpPr>
        <p:spPr>
          <a:xfrm>
            <a:off x="3803904" y="1554480"/>
            <a:ext cx="1737360" cy="41148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22" name="building"/>
          <p:cNvSpPr/>
          <p:nvPr/>
        </p:nvSpPr>
        <p:spPr>
          <a:xfrm>
            <a:off x="3803904" y="2697480"/>
            <a:ext cx="1737360" cy="41148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23" name="seen facade"/>
          <p:cNvSpPr/>
          <p:nvPr/>
        </p:nvSpPr>
        <p:spPr>
          <a:xfrm>
            <a:off x="3803904" y="1965960"/>
            <a:ext cx="17373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24" name="seen facade"/>
          <p:cNvSpPr/>
          <p:nvPr/>
        </p:nvSpPr>
        <p:spPr>
          <a:xfrm>
            <a:off x="3803904" y="2697480"/>
            <a:ext cx="17373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25" name="camera"/>
          <p:cNvSpPr/>
          <p:nvPr/>
        </p:nvSpPr>
        <p:spPr>
          <a:xfrm>
            <a:off x="4160520" y="22768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camera"/>
          <p:cNvSpPr/>
          <p:nvPr/>
        </p:nvSpPr>
        <p:spPr>
          <a:xfrm>
            <a:off x="4617720" y="22768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camera"/>
          <p:cNvSpPr/>
          <p:nvPr/>
        </p:nvSpPr>
        <p:spPr>
          <a:xfrm>
            <a:off x="5074920" y="22768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slides along"/>
          <p:cNvSpPr/>
          <p:nvPr/>
        </p:nvSpPr>
        <p:spPr>
          <a:xfrm>
            <a:off x="3621024" y="2331720"/>
            <a:ext cx="320040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3392424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Two parallel facades</a:t>
            </a:r>
            <a:endParaRPr lang="en-US" sz="1600" dirty="0"/>
          </a:p>
        </p:txBody>
      </p:sp>
      <p:sp>
        <p:nvSpPr>
          <p:cNvPr id="30" name="Two parallel facades tilt"/>
          <p:cNvSpPr/>
          <p:nvPr/>
        </p:nvSpPr>
        <p:spPr>
          <a:xfrm>
            <a:off x="339242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1" name="Two parallel facades tilt"/>
          <p:cNvSpPr/>
          <p:nvPr/>
        </p:nvSpPr>
        <p:spPr>
          <a:xfrm>
            <a:off x="373989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2" name="Two parallel facades heading"/>
          <p:cNvSpPr/>
          <p:nvPr/>
        </p:nvSpPr>
        <p:spPr>
          <a:xfrm>
            <a:off x="408736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3" name="Two parallel facades scale"/>
          <p:cNvSpPr/>
          <p:nvPr/>
        </p:nvSpPr>
        <p:spPr>
          <a:xfrm>
            <a:off x="443484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4" name="Two parallel facades east"/>
          <p:cNvSpPr/>
          <p:nvPr/>
        </p:nvSpPr>
        <p:spPr>
          <a:xfrm>
            <a:off x="4782312" y="3931920"/>
            <a:ext cx="237744" cy="237744"/>
          </a:xfrm>
          <a:prstGeom prst="ellipse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35" name="Two parallel facades north"/>
          <p:cNvSpPr/>
          <p:nvPr/>
        </p:nvSpPr>
        <p:spPr>
          <a:xfrm>
            <a:off x="512978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6" name="Two parallel facades height"/>
          <p:cNvSpPr/>
          <p:nvPr/>
        </p:nvSpPr>
        <p:spPr>
          <a:xfrm>
            <a:off x="547725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392424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position undetermined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3392424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×0.999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2.2° off</a:t>
            </a:r>
            <a:endParaRPr lang="en-US" sz="1400" dirty="0"/>
          </a:p>
        </p:txBody>
      </p:sp>
      <p:sp>
        <p:nvSpPr>
          <p:cNvPr id="39" name="plan A corner"/>
          <p:cNvSpPr/>
          <p:nvPr/>
        </p:nvSpPr>
        <p:spPr>
          <a:xfrm>
            <a:off x="6236208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building"/>
          <p:cNvSpPr/>
          <p:nvPr/>
        </p:nvSpPr>
        <p:spPr>
          <a:xfrm>
            <a:off x="6876288" y="1691640"/>
            <a:ext cx="1280160" cy="77724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41" name="seen facade"/>
          <p:cNvSpPr/>
          <p:nvPr/>
        </p:nvSpPr>
        <p:spPr>
          <a:xfrm>
            <a:off x="6876288" y="2468880"/>
            <a:ext cx="12801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42" name="seen facade"/>
          <p:cNvSpPr/>
          <p:nvPr/>
        </p:nvSpPr>
        <p:spPr>
          <a:xfrm>
            <a:off x="8156448" y="1691640"/>
            <a:ext cx="914" cy="77724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43" name="camera"/>
          <p:cNvSpPr/>
          <p:nvPr/>
        </p:nvSpPr>
        <p:spPr>
          <a:xfrm>
            <a:off x="7278624" y="291693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4" name="camera"/>
          <p:cNvSpPr/>
          <p:nvPr/>
        </p:nvSpPr>
        <p:spPr>
          <a:xfrm>
            <a:off x="8467344" y="28712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5" name="camera"/>
          <p:cNvSpPr/>
          <p:nvPr/>
        </p:nvSpPr>
        <p:spPr>
          <a:xfrm>
            <a:off x="8513064" y="195681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236208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corner</a:t>
            </a:r>
            <a:endParaRPr lang="en-US" sz="1600" dirty="0"/>
          </a:p>
        </p:txBody>
      </p:sp>
      <p:sp>
        <p:nvSpPr>
          <p:cNvPr id="47" name="A corner tilt"/>
          <p:cNvSpPr/>
          <p:nvPr/>
        </p:nvSpPr>
        <p:spPr>
          <a:xfrm>
            <a:off x="623620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8" name="A corner tilt"/>
          <p:cNvSpPr/>
          <p:nvPr/>
        </p:nvSpPr>
        <p:spPr>
          <a:xfrm>
            <a:off x="658368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9" name="A corner heading"/>
          <p:cNvSpPr/>
          <p:nvPr/>
        </p:nvSpPr>
        <p:spPr>
          <a:xfrm>
            <a:off x="693115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0" name="A corner scale"/>
          <p:cNvSpPr/>
          <p:nvPr/>
        </p:nvSpPr>
        <p:spPr>
          <a:xfrm>
            <a:off x="727862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1" name="A corner east"/>
          <p:cNvSpPr/>
          <p:nvPr/>
        </p:nvSpPr>
        <p:spPr>
          <a:xfrm>
            <a:off x="762609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2" name="A corner north"/>
          <p:cNvSpPr/>
          <p:nvPr/>
        </p:nvSpPr>
        <p:spPr>
          <a:xfrm>
            <a:off x="797356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3" name="A corner height"/>
          <p:cNvSpPr/>
          <p:nvPr/>
        </p:nvSpPr>
        <p:spPr>
          <a:xfrm>
            <a:off x="832104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236208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usable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236208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×0.993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0.12° off</a:t>
            </a:r>
            <a:endParaRPr lang="en-US" sz="1400" dirty="0"/>
          </a:p>
        </p:txBody>
      </p:sp>
      <p:sp>
        <p:nvSpPr>
          <p:cNvPr id="56" name="plan Three facades"/>
          <p:cNvSpPr/>
          <p:nvPr/>
        </p:nvSpPr>
        <p:spPr>
          <a:xfrm>
            <a:off x="9079992" y="132588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7" name="building"/>
          <p:cNvSpPr/>
          <p:nvPr/>
        </p:nvSpPr>
        <p:spPr>
          <a:xfrm>
            <a:off x="9720072" y="1691640"/>
            <a:ext cx="1280160" cy="777240"/>
          </a:xfrm>
          <a:prstGeom prst="rect">
            <a:avLst/>
          </a:prstGeom>
          <a:solidFill>
            <a:srgbClr val="C9CFCD"/>
          </a:solidFill>
          <a:ln w="12700">
            <a:solidFill>
              <a:srgbClr val="C9CFCD"/>
            </a:solidFill>
            <a:prstDash val="solid"/>
          </a:ln>
        </p:spPr>
      </p:sp>
      <p:sp>
        <p:nvSpPr>
          <p:cNvPr id="58" name="seen facade"/>
          <p:cNvSpPr/>
          <p:nvPr/>
        </p:nvSpPr>
        <p:spPr>
          <a:xfrm>
            <a:off x="9720072" y="2468880"/>
            <a:ext cx="1280160" cy="914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59" name="seen facade"/>
          <p:cNvSpPr/>
          <p:nvPr/>
        </p:nvSpPr>
        <p:spPr>
          <a:xfrm>
            <a:off x="11000232" y="1691640"/>
            <a:ext cx="914" cy="77724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60" name="seen facade"/>
          <p:cNvSpPr/>
          <p:nvPr/>
        </p:nvSpPr>
        <p:spPr>
          <a:xfrm>
            <a:off x="9720072" y="1691640"/>
            <a:ext cx="914" cy="77724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61" name="camera"/>
          <p:cNvSpPr/>
          <p:nvPr/>
        </p:nvSpPr>
        <p:spPr>
          <a:xfrm>
            <a:off x="9299448" y="200253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2" name="camera"/>
          <p:cNvSpPr/>
          <p:nvPr/>
        </p:nvSpPr>
        <p:spPr>
          <a:xfrm>
            <a:off x="10305288" y="296265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3" name="camera"/>
          <p:cNvSpPr/>
          <p:nvPr/>
        </p:nvSpPr>
        <p:spPr>
          <a:xfrm>
            <a:off x="11311128" y="2002536"/>
            <a:ext cx="109728" cy="1097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079992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 facades</a:t>
            </a:r>
            <a:endParaRPr lang="en-US" sz="1600" dirty="0"/>
          </a:p>
        </p:txBody>
      </p:sp>
      <p:sp>
        <p:nvSpPr>
          <p:cNvPr id="65" name="Three facades tilt"/>
          <p:cNvSpPr/>
          <p:nvPr/>
        </p:nvSpPr>
        <p:spPr>
          <a:xfrm>
            <a:off x="907999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6" name="Three facades tilt"/>
          <p:cNvSpPr/>
          <p:nvPr/>
        </p:nvSpPr>
        <p:spPr>
          <a:xfrm>
            <a:off x="942746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7" name="Three facades heading"/>
          <p:cNvSpPr/>
          <p:nvPr/>
        </p:nvSpPr>
        <p:spPr>
          <a:xfrm>
            <a:off x="9774936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8" name="Three facades scale"/>
          <p:cNvSpPr/>
          <p:nvPr/>
        </p:nvSpPr>
        <p:spPr>
          <a:xfrm>
            <a:off x="10122408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9" name="Three facades east"/>
          <p:cNvSpPr/>
          <p:nvPr/>
        </p:nvSpPr>
        <p:spPr>
          <a:xfrm>
            <a:off x="10469880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0" name="Three facades north"/>
          <p:cNvSpPr/>
          <p:nvPr/>
        </p:nvSpPr>
        <p:spPr>
          <a:xfrm>
            <a:off x="10817352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1" name="Three facades height"/>
          <p:cNvSpPr/>
          <p:nvPr/>
        </p:nvSpPr>
        <p:spPr>
          <a:xfrm>
            <a:off x="11164824" y="3931920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079992" y="4343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usable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9079992" y="4709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scale ×1.003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heading 0.10° off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synthetic hall with a known answer, seen from above; cameras in black, the facades they see in colour. Exact lidar roof edges, every cue on. Dots: tilt · tilt · heading · scale · east · north · height; red outline = not fixed.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photograph it has never seen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234440"/>
            <a:ext cx="262204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" y="1307592"/>
            <a:ext cx="2292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· Retrieve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1673352"/>
            <a:ext cx="2292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NetVLAD: the most similar of the 88</a:t>
            </a:r>
            <a:endParaRPr lang="en-US" sz="1300" dirty="0"/>
          </a:p>
        </p:txBody>
      </p:sp>
      <p:sp>
        <p:nvSpPr>
          <p:cNvPr id="7" name="step 2"/>
          <p:cNvSpPr/>
          <p:nvPr/>
        </p:nvSpPr>
        <p:spPr>
          <a:xfrm>
            <a:off x="3371850" y="1234440"/>
            <a:ext cx="262204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6442" y="1307592"/>
            <a:ext cx="2292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· Match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36442" y="1673352"/>
            <a:ext cx="2292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SuperPoint + LightGlue</a:t>
            </a:r>
            <a:endParaRPr lang="en-US" sz="1300" dirty="0"/>
          </a:p>
        </p:txBody>
      </p:sp>
      <p:sp>
        <p:nvSpPr>
          <p:cNvPr id="10" name="step 3"/>
          <p:cNvSpPr/>
          <p:nvPr/>
        </p:nvSpPr>
        <p:spPr>
          <a:xfrm>
            <a:off x="6195060" y="1234440"/>
            <a:ext cx="262204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9652" y="1307592"/>
            <a:ext cx="2292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· Solve the pose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359652" y="1673352"/>
            <a:ext cx="2292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pycolmap RANSAC from four focal-length guesses</a:t>
            </a:r>
            <a:endParaRPr lang="en-US" sz="1300" dirty="0"/>
          </a:p>
        </p:txBody>
      </p:sp>
      <p:sp>
        <p:nvSpPr>
          <p:cNvPr id="13" name="step 4"/>
          <p:cNvSpPr/>
          <p:nvPr/>
        </p:nvSpPr>
        <p:spPr>
          <a:xfrm>
            <a:off x="9018270" y="1234440"/>
            <a:ext cx="262204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2862" y="1307592"/>
            <a:ext cx="2292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 · Certificate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182862" y="1673352"/>
            <a:ext cx="2292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placed · distance open · refused</a:t>
            </a:r>
            <a:endParaRPr lang="en-US" sz="1300" dirty="0"/>
          </a:p>
        </p:txBody>
      </p:sp>
      <p:pic>
        <p:nvPicPr>
          <p:cNvPr id="16" name="The photograph painted onto the lidar city from where it was placed" descr="The photograph painted onto the lidar city from where it was pla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5431536" cy="3424858"/>
          </a:xfrm>
          <a:prstGeom prst="rect">
            <a:avLst/>
          </a:prstGeom>
        </p:spPr>
      </p:pic>
      <p:pic>
        <p:nvPicPr>
          <p:cNvPr id="17" name="The same spot without the photograph" descr="The same spot without the photograp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2331720"/>
            <a:ext cx="5431536" cy="342485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8640" y="582973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From where it was placed: the photograph painted onto the lidar city (inside the white frame).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6208776" y="582973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same spot, the bare lidar city: the tower is where the photograph says. Photograph: joebeone, CC BY 2.0 (Flickr).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by taking each photograph out</a:t>
            </a:r>
            <a:endParaRPr lang="en-US" sz="3200" dirty="0"/>
          </a:p>
        </p:txBody>
      </p:sp>
      <p:graphicFrame>
        <p:nvGraphicFramePr>
          <p:cNvPr id="4" name="leave-one-out verdicts" descr=""/>
          <p:cNvGraphicFramePr/>
          <p:nvPr/>
        </p:nvGraphicFramePr>
        <p:xfrm>
          <a:off x="548640" y="1325880"/>
          <a:ext cx="60350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463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Each of the 88 photographs taken out of the reconstruction and placed again from scratch, scored where COLMAP's own pose of it is trustworthy.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949440" y="13716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 m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8961120" y="1371600"/>
            <a:ext cx="2679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 error of the 53 placed (90th percentile 5.6 m, worst 20 m)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23957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 m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8961120" y="2395728"/>
            <a:ext cx="2679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 distance of the true spot from the stated line, for the 21 with the distance open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41985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≈115 m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8961120" y="3419856"/>
            <a:ext cx="2679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how far off the 2 refused would have been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444398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/ 120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443984"/>
            <a:ext cx="2679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street photographs from the Arts Quad side refused: nobody online photographed the tower from there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world frame buys you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The lidar as referee and teacher</a:t>
            </a:r>
            <a:endParaRPr lang="en-US" sz="1800" dirty="0"/>
          </a:p>
        </p:txBody>
      </p:sp>
      <p:pic>
        <p:nvPicPr>
          <p:cNvPr id="5" name="Plain and lidar-taught splats from a new viewpoint, painted by the lidar's verdict" descr="Plain and lidar-taught splats from a new viewpoint, painted by the lidar's verdi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86400" cy="204462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809413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view no photographer took; every Gaussian painted by the lidar: red in measured-empty air, purple underground. Plain splat left, lidar-taught right.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526280"/>
            <a:ext cx="1783080" cy="30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 → 5 %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8519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Gaussians under the bare ground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4526280"/>
            <a:ext cx="1783080" cy="30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41 % → 88 %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48519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 lidar surfaces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4526280"/>
            <a:ext cx="1783080" cy="30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14.4 → 14.5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48519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dB on held-out photos: no worse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355080" y="1234440"/>
            <a:ext cx="528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Time, for free</a:t>
            </a:r>
            <a:endParaRPr lang="en-US" sz="1800" dirty="0"/>
          </a:p>
        </p:txBody>
      </p:sp>
      <p:pic>
        <p:nvPicPr>
          <p:cNvPr id="14" name="Gates Hall in the time machine" descr="Gates Hall in the time mach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5285232" cy="33326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55080" y="5097398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Gates Hall in the 2016 flight: a parking lot until 2012. 6 aerial flights, 2002–2023, on the same terrain (live demo, chapter 7).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can't do yet</a:t>
            </a:r>
            <a:endParaRPr lang="en-US" sz="3200" dirty="0"/>
          </a:p>
        </p:txBody>
      </p:sp>
      <p:sp>
        <p:nvSpPr>
          <p:cNvPr id="4" name="limit 1"/>
          <p:cNvSpPr/>
          <p:nvPr/>
        </p:nvSpPr>
        <p:spPr>
          <a:xfrm>
            <a:off x="548640" y="1325880"/>
            <a:ext cx="5408676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ber 1"/>
          <p:cNvSpPr/>
          <p:nvPr/>
        </p:nvSpPr>
        <p:spPr>
          <a:xfrm>
            <a:off x="822960" y="16184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184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One of 8 fragments certified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2402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and it has no independent ground truth yet: phone photographs with GPS are the next check.</a:t>
            </a:r>
            <a:endParaRPr lang="en-US" sz="1600" dirty="0"/>
          </a:p>
        </p:txBody>
      </p:sp>
      <p:sp>
        <p:nvSpPr>
          <p:cNvPr id="9" name="limit 2"/>
          <p:cNvSpPr/>
          <p:nvPr/>
        </p:nvSpPr>
        <p:spPr>
          <a:xfrm>
            <a:off x="6231636" y="1325880"/>
            <a:ext cx="5408676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6505956" y="16184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05956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237476" y="16184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 wrong roof edge can pass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237476" y="22402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synthetic corner with a 3 m roof-edge error is certified usable with the scale 23 % off.</a:t>
            </a:r>
            <a:endParaRPr lang="en-US" sz="1600" dirty="0"/>
          </a:p>
        </p:txBody>
      </p:sp>
      <p:sp>
        <p:nvSpPr>
          <p:cNvPr id="14" name="limit 3"/>
          <p:cNvSpPr/>
          <p:nvPr/>
        </p:nvSpPr>
        <p:spPr>
          <a:xfrm>
            <a:off x="548640" y="3657600"/>
            <a:ext cx="5408676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umber 3"/>
          <p:cNvSpPr/>
          <p:nvPr/>
        </p:nvSpPr>
        <p:spPr>
          <a:xfrm>
            <a:off x="822960" y="39502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554480" y="39502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Arts Quad side is blind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5720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all 120 street photographs from there are refused: no licensed photograph online was taken from that side.</a:t>
            </a:r>
            <a:endParaRPr lang="en-US" sz="1600" dirty="0"/>
          </a:p>
        </p:txBody>
      </p:sp>
      <p:sp>
        <p:nvSpPr>
          <p:cNvPr id="19" name="limit 4"/>
          <p:cNvSpPr/>
          <p:nvPr/>
        </p:nvSpPr>
        <p:spPr>
          <a:xfrm>
            <a:off x="6231636" y="3657600"/>
            <a:ext cx="5408676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umber 4"/>
          <p:cNvSpPr/>
          <p:nvPr/>
        </p:nvSpPr>
        <p:spPr>
          <a:xfrm>
            <a:off x="6505956" y="39502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237476" y="39502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splats are still blurry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237476" y="45720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about 14.5 dB on held-out photographs; the far side of the tower was never photographed.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here</a:t>
            </a:r>
            <a:endParaRPr lang="en-US" sz="3200" dirty="0"/>
          </a:p>
        </p:txBody>
      </p:sp>
      <p:graphicFrame>
        <p:nvGraphicFramePr>
          <p:cNvPr id="16" name="related wor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840480"/>
                <a:gridCol w="386791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Work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What GhostMap adds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Kaminsky, Snavely, Seitz, Szeliski · CVPR Workshops 2009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aligns a reconstruction to an overhead image: points on its edges, free space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lidar heights, explicit metric cues, a certificate per degree of freedom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Wang, Wilson, Snavely · 3DV 2013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georegistration from Flickr geotags and Google Earth models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no geotags; public lidar and OpenStreetMap only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Sarlin et al., OrienterNet · CVPR 2023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one photograph onto OpenStreetMap, learned, three degrees of freedom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whole fragments, seven degrees of freedom, scale from the world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Kinoshita, Nishino · ECCV 2024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constant camera height as metric supervision for depth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the same principle as a placement cue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206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 data only, reproducible wherever USGS 3DEP lidar and OpenStreetMap exist: github.com/BobbyZbp/CS-6672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COLMAP's frame is arbitrary. The world's isn't.</a:t>
            </a:r>
            <a:endParaRPr lang="en-US" sz="4000" dirty="0"/>
          </a:p>
        </p:txBody>
      </p:sp>
      <p:sp>
        <p:nvSpPr>
          <p:cNvPr id="4" name="point 1"/>
          <p:cNvSpPr/>
          <p:nvPr/>
        </p:nvSpPr>
        <p:spPr>
          <a:xfrm>
            <a:off x="658368" y="3502152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34015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Placed with public lidar and footprints, no GPS</a:t>
            </a:r>
            <a:endParaRPr lang="en-US" sz="1600" dirty="0"/>
          </a:p>
        </p:txBody>
      </p:sp>
      <p:sp>
        <p:nvSpPr>
          <p:cNvPr id="6" name="point 2"/>
          <p:cNvSpPr/>
          <p:nvPr/>
        </p:nvSpPr>
        <p:spPr>
          <a:xfrm>
            <a:off x="658368" y="4005072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90448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Refused, with the reason, when geometry can't fix it</a:t>
            </a:r>
            <a:endParaRPr lang="en-US" sz="1600" dirty="0"/>
          </a:p>
        </p:txBody>
      </p:sp>
      <p:sp>
        <p:nvSpPr>
          <p:cNvPr id="8" name="point 3"/>
          <p:cNvSpPr/>
          <p:nvPr/>
        </p:nvSpPr>
        <p:spPr>
          <a:xfrm>
            <a:off x="658368" y="4507992"/>
            <a:ext cx="182880" cy="1828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440740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New photographs placed in seconds</a:t>
            </a:r>
            <a:endParaRPr lang="en-US" sz="1600" dirty="0"/>
          </a:p>
        </p:txBody>
      </p:sp>
      <p:sp>
        <p:nvSpPr>
          <p:cNvPr id="10" name="all fixed tilt"/>
          <p:cNvSpPr/>
          <p:nvPr/>
        </p:nvSpPr>
        <p:spPr>
          <a:xfrm>
            <a:off x="6858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1" name="all fixed tilt"/>
          <p:cNvSpPr/>
          <p:nvPr/>
        </p:nvSpPr>
        <p:spPr>
          <a:xfrm>
            <a:off x="11430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2" name="all fixed heading"/>
          <p:cNvSpPr/>
          <p:nvPr/>
        </p:nvSpPr>
        <p:spPr>
          <a:xfrm>
            <a:off x="16002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all fixed scale"/>
          <p:cNvSpPr/>
          <p:nvPr/>
        </p:nvSpPr>
        <p:spPr>
          <a:xfrm>
            <a:off x="20574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all fixed east"/>
          <p:cNvSpPr/>
          <p:nvPr/>
        </p:nvSpPr>
        <p:spPr>
          <a:xfrm>
            <a:off x="25146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5" name="all fixed north"/>
          <p:cNvSpPr/>
          <p:nvPr/>
        </p:nvSpPr>
        <p:spPr>
          <a:xfrm>
            <a:off x="29718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all fixed height"/>
          <p:cNvSpPr/>
          <p:nvPr/>
        </p:nvSpPr>
        <p:spPr>
          <a:xfrm>
            <a:off x="3429000" y="51206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57150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4ADB3"/>
                </a:solidFill>
              </a:rPr>
              <a:t>Questions? The demo stays open.   github.com/BobbyZbp/CS-6672</a:t>
            </a:r>
            <a:endParaRPr lang="en-US" sz="1400" dirty="0"/>
          </a:p>
        </p:txBody>
      </p:sp>
      <p:pic>
        <p:nvPicPr>
          <p:cNvPr id="18" name="The fragment placed in the lidar campus" descr="The fragment placed in the lidar cam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4937760" cy="31135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675120" y="46222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The tower-and-library fragment, placed.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hostMap">
  <a:themeElements>
    <a:clrScheme name="GhostMap">
      <a:dk1>
        <a:srgbClr val="1B2329"/>
      </a:dk1>
      <a:lt1>
        <a:srgbClr val="FFFFFF"/>
      </a:lt1>
      <a:dk2>
        <a:srgbClr val="33414A"/>
      </a:dk2>
      <a:lt2>
        <a:srgbClr val="EEF1F0"/>
      </a:lt2>
      <a:accent1>
        <a:srgbClr val="B5532C"/>
      </a:accent1>
      <a:accent2>
        <a:srgbClr val="2F7D4F"/>
      </a:accent2>
      <a:accent3>
        <a:srgbClr val="B4372F"/>
      </a:accent3>
      <a:accent4>
        <a:srgbClr val="B07A10"/>
      </a:accent4>
      <a:accent5>
        <a:srgbClr val="7C8790"/>
      </a:accent5>
      <a:accent6>
        <a:srgbClr val="E8A07E"/>
      </a:accent6>
      <a:hlink>
        <a:srgbClr val="B5532C"/>
      </a:hlink>
      <a:folHlink>
        <a:srgbClr val="7A3A20"/>
      </a:folHlink>
    </a:clrScheme>
    <a:fontScheme name="GhostM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GhostMap</dc:title>
  <dc:subject>Putting COLMAP reconstructions into the real world, without GPS</dc:subject>
  <dc:creator>GhostMap, CS 6672</dc:creator>
  <cp:lastModifiedBy>GhostMap, CS 6672</cp:lastModifiedBy>
  <cp:revision>1</cp:revision>
  <dcterms:created xsi:type="dcterms:W3CDTF">2026-10-29T02:06:35Z</dcterms:created>
  <dcterms:modified xsi:type="dcterms:W3CDTF">2026-10-29T02:06:35Z</dcterms:modified>
</cp:coreProperties>
</file>